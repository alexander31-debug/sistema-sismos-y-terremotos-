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7" r:id="rId7"/>
    <p:sldId id="261" r:id="rId8"/>
    <p:sldId id="268" r:id="rId9"/>
    <p:sldId id="269" r:id="rId10"/>
    <p:sldId id="271" r:id="rId11"/>
    <p:sldId id="263" r:id="rId12"/>
    <p:sldId id="262" r:id="rId13"/>
    <p:sldId id="270" r:id="rId14"/>
    <p:sldId id="264" r:id="rId15"/>
  </p:sldIdLst>
  <p:sldSz cx="12192000" cy="6858000"/>
  <p:notesSz cx="6858000" cy="9144000"/>
  <p:embeddedFontLst>
    <p:embeddedFont>
      <p:font typeface="Century Gothic" panose="020B0502020202020204" pitchFamily="34" charset="0"/>
      <p:regular r:id="rId17"/>
      <p:bold r:id="rId18"/>
      <p:italic r:id="rId19"/>
      <p:boldItalic r:id="rId20"/>
    </p:embeddedFont>
    <p:embeddedFont>
      <p:font typeface="Quattrocento Sans" panose="020B0502050000020003"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cción predeterminada" id="{57C812C7-EA3E-45BD-8362-64E1A0A34838}">
          <p14:sldIdLst>
            <p14:sldId id="256"/>
            <p14:sldId id="257"/>
            <p14:sldId id="258"/>
            <p14:sldId id="259"/>
            <p14:sldId id="260"/>
            <p14:sldId id="267"/>
            <p14:sldId id="261"/>
            <p14:sldId id="268"/>
            <p14:sldId id="269"/>
            <p14:sldId id="271"/>
            <p14:sldId id="263"/>
          </p14:sldIdLst>
        </p14:section>
        <p14:section name="Sección sin título" id="{CA0C1448-4472-402F-B422-CD34B28B1C42}">
          <p14:sldIdLst>
            <p14:sldId id="262"/>
            <p14:sldId id="270"/>
            <p14:sldId id="264"/>
          </p14:sldIdLst>
        </p14:section>
      </p14:sectionLst>
    </p:ext>
    <p:ext uri="{EFAFB233-063F-42B5-8137-9DF3F51BA10A}">
      <p15:sldGuideLst xmlns:p15="http://schemas.microsoft.com/office/powerpoint/2012/main">
        <p15:guide id="1" orient="horz" pos="2328">
          <p15:clr>
            <a:srgbClr val="A4A3A4"/>
          </p15:clr>
        </p15:guide>
        <p15:guide id="2" pos="3864">
          <p15:clr>
            <a:srgbClr val="A4A3A4"/>
          </p15:clr>
        </p15:guide>
        <p15:guide id="3" pos="7512">
          <p15:clr>
            <a:srgbClr val="A4A3A4"/>
          </p15:clr>
        </p15:guide>
        <p15:guide id="4" pos="144">
          <p15:clr>
            <a:srgbClr val="A4A3A4"/>
          </p15:clr>
        </p15:guide>
        <p15:guide id="5" orient="horz" pos="624">
          <p15:clr>
            <a:srgbClr val="A4A3A4"/>
          </p15:clr>
        </p15:guide>
        <p15:guide id="6" orient="horz" pos="4056">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g/NBjr7lrMCcSQD8LoLzU6bidJ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90"/>
      </p:cViewPr>
      <p:guideLst>
        <p:guide orient="horz" pos="2328"/>
        <p:guide pos="3864"/>
        <p:guide pos="7512"/>
        <p:guide pos="144"/>
        <p:guide orient="horz" pos="624"/>
        <p:guide orient="horz" pos="405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D36ADD-1223-A93E-6DE7-9D7FC10D308C}"/>
            </a:ext>
          </a:extLst>
        </p:cNvPr>
        <p:cNvGrpSpPr/>
        <p:nvPr/>
      </p:nvGrpSpPr>
      <p:grpSpPr>
        <a:xfrm>
          <a:off x="0" y="0"/>
          <a:ext cx="0" cy="0"/>
          <a:chOff x="0" y="0"/>
          <a:chExt cx="0" cy="0"/>
        </a:xfrm>
      </p:grpSpPr>
      <p:sp>
        <p:nvSpPr>
          <p:cNvPr id="167" name="Google Shape;167;g29afadbc62e_0_5:notes">
            <a:extLst>
              <a:ext uri="{FF2B5EF4-FFF2-40B4-BE49-F238E27FC236}">
                <a16:creationId xmlns:a16="http://schemas.microsoft.com/office/drawing/2014/main" id="{D23052A3-92C8-2328-DA3A-35AF5C861D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29afadbc62e_0_5:notes">
            <a:extLst>
              <a:ext uri="{FF2B5EF4-FFF2-40B4-BE49-F238E27FC236}">
                <a16:creationId xmlns:a16="http://schemas.microsoft.com/office/drawing/2014/main" id="{C67580E3-D1FA-FE8B-1ACD-7064583D3C4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g29afadbc62e_0_5:notes">
            <a:extLst>
              <a:ext uri="{FF2B5EF4-FFF2-40B4-BE49-F238E27FC236}">
                <a16:creationId xmlns:a16="http://schemas.microsoft.com/office/drawing/2014/main" id="{65E0F76C-A2FC-6D57-E168-AE22B5567022}"/>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6</a:t>
            </a:fld>
            <a:endParaRPr/>
          </a:p>
        </p:txBody>
      </p:sp>
    </p:spTree>
    <p:extLst>
      <p:ext uri="{BB962C8B-B14F-4D97-AF65-F5344CB8AC3E}">
        <p14:creationId xmlns:p14="http://schemas.microsoft.com/office/powerpoint/2010/main" val="511150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9afadbc62e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29afadbc62e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g29afadbc62e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C9558458-1FB3-E8ED-FAEA-C4F1DFDE0545}"/>
            </a:ext>
          </a:extLst>
        </p:cNvPr>
        <p:cNvGrpSpPr/>
        <p:nvPr/>
      </p:nvGrpSpPr>
      <p:grpSpPr>
        <a:xfrm>
          <a:off x="0" y="0"/>
          <a:ext cx="0" cy="0"/>
          <a:chOff x="0" y="0"/>
          <a:chExt cx="0" cy="0"/>
        </a:xfrm>
      </p:grpSpPr>
      <p:sp>
        <p:nvSpPr>
          <p:cNvPr id="167" name="Google Shape;167;g29afadbc62e_0_5:notes">
            <a:extLst>
              <a:ext uri="{FF2B5EF4-FFF2-40B4-BE49-F238E27FC236}">
                <a16:creationId xmlns:a16="http://schemas.microsoft.com/office/drawing/2014/main" id="{F3B79031-58A7-F0F1-79D6-C37B38CB0C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29afadbc62e_0_5:notes">
            <a:extLst>
              <a:ext uri="{FF2B5EF4-FFF2-40B4-BE49-F238E27FC236}">
                <a16:creationId xmlns:a16="http://schemas.microsoft.com/office/drawing/2014/main" id="{286558CD-E256-EA85-0AEB-F7F9DED0A00A}"/>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g29afadbc62e_0_5:notes">
            <a:extLst>
              <a:ext uri="{FF2B5EF4-FFF2-40B4-BE49-F238E27FC236}">
                <a16:creationId xmlns:a16="http://schemas.microsoft.com/office/drawing/2014/main" id="{462B2DE8-FDF7-D781-8CE6-2E4AB3F867F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8</a:t>
            </a:fld>
            <a:endParaRPr/>
          </a:p>
        </p:txBody>
      </p:sp>
    </p:spTree>
    <p:extLst>
      <p:ext uri="{BB962C8B-B14F-4D97-AF65-F5344CB8AC3E}">
        <p14:creationId xmlns:p14="http://schemas.microsoft.com/office/powerpoint/2010/main" val="27282120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70FD373D-E188-B0C8-2E45-60523641F498}"/>
            </a:ext>
          </a:extLst>
        </p:cNvPr>
        <p:cNvGrpSpPr/>
        <p:nvPr/>
      </p:nvGrpSpPr>
      <p:grpSpPr>
        <a:xfrm>
          <a:off x="0" y="0"/>
          <a:ext cx="0" cy="0"/>
          <a:chOff x="0" y="0"/>
          <a:chExt cx="0" cy="0"/>
        </a:xfrm>
      </p:grpSpPr>
      <p:sp>
        <p:nvSpPr>
          <p:cNvPr id="167" name="Google Shape;167;g29afadbc62e_0_5:notes">
            <a:extLst>
              <a:ext uri="{FF2B5EF4-FFF2-40B4-BE49-F238E27FC236}">
                <a16:creationId xmlns:a16="http://schemas.microsoft.com/office/drawing/2014/main" id="{D7D6C682-DD6D-EE39-1FD5-2C4D86A91DE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29afadbc62e_0_5:notes">
            <a:extLst>
              <a:ext uri="{FF2B5EF4-FFF2-40B4-BE49-F238E27FC236}">
                <a16:creationId xmlns:a16="http://schemas.microsoft.com/office/drawing/2014/main" id="{225CB2CD-AC75-60B8-1BA1-67AB0E8CE60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g29afadbc62e_0_5:notes">
            <a:extLst>
              <a:ext uri="{FF2B5EF4-FFF2-40B4-BE49-F238E27FC236}">
                <a16:creationId xmlns:a16="http://schemas.microsoft.com/office/drawing/2014/main" id="{CBCBD224-287C-9FED-70C3-BFE27BD180D8}"/>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9</a:t>
            </a:fld>
            <a:endParaRPr/>
          </a:p>
        </p:txBody>
      </p:sp>
    </p:spTree>
    <p:extLst>
      <p:ext uri="{BB962C8B-B14F-4D97-AF65-F5344CB8AC3E}">
        <p14:creationId xmlns:p14="http://schemas.microsoft.com/office/powerpoint/2010/main" val="7831685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89DFD3A1-7634-5046-722E-6E0CD40CDB22}"/>
            </a:ext>
          </a:extLst>
        </p:cNvPr>
        <p:cNvGrpSpPr/>
        <p:nvPr/>
      </p:nvGrpSpPr>
      <p:grpSpPr>
        <a:xfrm>
          <a:off x="0" y="0"/>
          <a:ext cx="0" cy="0"/>
          <a:chOff x="0" y="0"/>
          <a:chExt cx="0" cy="0"/>
        </a:xfrm>
      </p:grpSpPr>
      <p:sp>
        <p:nvSpPr>
          <p:cNvPr id="167" name="Google Shape;167;g29afadbc62e_0_5:notes">
            <a:extLst>
              <a:ext uri="{FF2B5EF4-FFF2-40B4-BE49-F238E27FC236}">
                <a16:creationId xmlns:a16="http://schemas.microsoft.com/office/drawing/2014/main" id="{C2EE34EE-905C-CEEF-4867-D1B1B22A6D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29afadbc62e_0_5:notes">
            <a:extLst>
              <a:ext uri="{FF2B5EF4-FFF2-40B4-BE49-F238E27FC236}">
                <a16:creationId xmlns:a16="http://schemas.microsoft.com/office/drawing/2014/main" id="{C1A1013F-C0F1-2D1D-F7E3-6A091F853A67}"/>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g29afadbc62e_0_5:notes">
            <a:extLst>
              <a:ext uri="{FF2B5EF4-FFF2-40B4-BE49-F238E27FC236}">
                <a16:creationId xmlns:a16="http://schemas.microsoft.com/office/drawing/2014/main" id="{2DC81E6D-45BB-1AA4-A5EB-1D22AB3FED65}"/>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10</a:t>
            </a:fld>
            <a:endParaRPr/>
          </a:p>
        </p:txBody>
      </p:sp>
    </p:spTree>
    <p:extLst>
      <p:ext uri="{BB962C8B-B14F-4D97-AF65-F5344CB8AC3E}">
        <p14:creationId xmlns:p14="http://schemas.microsoft.com/office/powerpoint/2010/main" val="31213533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eb510cd08f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g1eb510cd08f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g1eb510cd08f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eb510cd08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g1eb510cd08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g1eb510cd08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1646E7B7-9C93-C0AD-8A48-DAFA3CA685BC}"/>
            </a:ext>
          </a:extLst>
        </p:cNvPr>
        <p:cNvGrpSpPr/>
        <p:nvPr/>
      </p:nvGrpSpPr>
      <p:grpSpPr>
        <a:xfrm>
          <a:off x="0" y="0"/>
          <a:ext cx="0" cy="0"/>
          <a:chOff x="0" y="0"/>
          <a:chExt cx="0" cy="0"/>
        </a:xfrm>
      </p:grpSpPr>
      <p:sp>
        <p:nvSpPr>
          <p:cNvPr id="178" name="Google Shape;178;g1eb510cd08f_0_0:notes">
            <a:extLst>
              <a:ext uri="{FF2B5EF4-FFF2-40B4-BE49-F238E27FC236}">
                <a16:creationId xmlns:a16="http://schemas.microsoft.com/office/drawing/2014/main" id="{5592ABE7-0112-70E8-ABEE-9268C7146C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g1eb510cd08f_0_0:notes">
            <a:extLst>
              <a:ext uri="{FF2B5EF4-FFF2-40B4-BE49-F238E27FC236}">
                <a16:creationId xmlns:a16="http://schemas.microsoft.com/office/drawing/2014/main" id="{5D195876-9905-375A-97E0-00FFB78B4F2D}"/>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g1eb510cd08f_0_0:notes">
            <a:extLst>
              <a:ext uri="{FF2B5EF4-FFF2-40B4-BE49-F238E27FC236}">
                <a16:creationId xmlns:a16="http://schemas.microsoft.com/office/drawing/2014/main" id="{5AA68689-083A-0EB3-AE6B-4125A0645133}"/>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13</a:t>
            </a:fld>
            <a:endParaRPr/>
          </a:p>
        </p:txBody>
      </p:sp>
    </p:spTree>
    <p:extLst>
      <p:ext uri="{BB962C8B-B14F-4D97-AF65-F5344CB8AC3E}">
        <p14:creationId xmlns:p14="http://schemas.microsoft.com/office/powerpoint/2010/main" val="11917371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l título" type="title">
  <p:cSld name="TITLE">
    <p:spTree>
      <p:nvGrpSpPr>
        <p:cNvPr id="1" name="Shape 15"/>
        <p:cNvGrpSpPr/>
        <p:nvPr/>
      </p:nvGrpSpPr>
      <p:grpSpPr>
        <a:xfrm>
          <a:off x="0" y="0"/>
          <a:ext cx="0" cy="0"/>
          <a:chOff x="0" y="0"/>
          <a:chExt cx="0" cy="0"/>
        </a:xfrm>
      </p:grpSpPr>
      <p:sp>
        <p:nvSpPr>
          <p:cNvPr id="16" name="Google Shape;16;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contenido" type="obj">
  <p:cSld name="OBJECT">
    <p:spTree>
      <p:nvGrpSpPr>
        <p:cNvPr id="1" name="Shape 25"/>
        <p:cNvGrpSpPr/>
        <p:nvPr/>
      </p:nvGrpSpPr>
      <p:grpSpPr>
        <a:xfrm>
          <a:off x="0" y="0"/>
          <a:ext cx="0" cy="0"/>
          <a:chOff x="0" y="0"/>
          <a:chExt cx="0" cy="0"/>
        </a:xfrm>
      </p:grpSpPr>
      <p:sp>
        <p:nvSpPr>
          <p:cNvPr id="26" name="Google Shape;2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1"/>
        <p:cNvGrpSpPr/>
        <p:nvPr/>
      </p:nvGrpSpPr>
      <p:grpSpPr>
        <a:xfrm>
          <a:off x="0" y="0"/>
          <a:ext cx="0" cy="0"/>
          <a:chOff x="0" y="0"/>
          <a:chExt cx="0" cy="0"/>
        </a:xfrm>
      </p:grpSpPr>
      <p:sp>
        <p:nvSpPr>
          <p:cNvPr id="32" name="Google Shape;32;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7"/>
        <p:cNvGrpSpPr/>
        <p:nvPr/>
      </p:nvGrpSpPr>
      <p:grpSpPr>
        <a:xfrm>
          <a:off x="0" y="0"/>
          <a:ext cx="0" cy="0"/>
          <a:chOff x="0" y="0"/>
          <a:chExt cx="0" cy="0"/>
        </a:xfrm>
      </p:grpSpPr>
      <p:sp>
        <p:nvSpPr>
          <p:cNvPr id="38" name="Google Shape;3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4"/>
        <p:cNvGrpSpPr/>
        <p:nvPr/>
      </p:nvGrpSpPr>
      <p:grpSpPr>
        <a:xfrm>
          <a:off x="0" y="0"/>
          <a:ext cx="0" cy="0"/>
          <a:chOff x="0" y="0"/>
          <a:chExt cx="0" cy="0"/>
        </a:xfrm>
      </p:grpSpPr>
      <p:sp>
        <p:nvSpPr>
          <p:cNvPr id="45" name="Google Shape;45;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leyenda" type="picTx">
  <p:cSld name="PICTURE_WITH_CAPTION_TEXT">
    <p:spTree>
      <p:nvGrpSpPr>
        <p:cNvPr id="1" name="Shape 65"/>
        <p:cNvGrpSpPr/>
        <p:nvPr/>
      </p:nvGrpSpPr>
      <p:grpSpPr>
        <a:xfrm>
          <a:off x="0" y="0"/>
          <a:ext cx="0" cy="0"/>
          <a:chOff x="0" y="0"/>
          <a:chExt cx="0" cy="0"/>
        </a:xfrm>
      </p:grpSpPr>
      <p:sp>
        <p:nvSpPr>
          <p:cNvPr id="66" name="Google Shape;66;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6"/>
          <p:cNvSpPr>
            <a:spLocks noGrp="1"/>
          </p:cNvSpPr>
          <p:nvPr>
            <p:ph type="pic" idx="2"/>
          </p:nvPr>
        </p:nvSpPr>
        <p:spPr>
          <a:xfrm>
            <a:off x="5183188" y="987425"/>
            <a:ext cx="6172200" cy="4873625"/>
          </a:xfrm>
          <a:prstGeom prst="rect">
            <a:avLst/>
          </a:prstGeom>
          <a:noFill/>
          <a:ln>
            <a:noFill/>
          </a:ln>
        </p:spPr>
      </p:sp>
      <p:sp>
        <p:nvSpPr>
          <p:cNvPr id="68" name="Google Shape;68;p1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1pPr>
            <a:lvl2pPr marL="0" marR="0" lvl="1"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2pPr>
            <a:lvl3pPr marL="0" marR="0" lvl="2"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3pPr>
            <a:lvl4pPr marL="0" marR="0" lvl="3"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4pPr>
            <a:lvl5pPr marL="0" marR="0" lvl="4"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5pPr>
            <a:lvl6pPr marL="0" marR="0" lvl="5"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6pPr>
            <a:lvl7pPr marL="0" marR="0" lvl="6"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7pPr>
            <a:lvl8pPr marL="0" marR="0" lvl="7"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8pPr>
            <a:lvl9pPr marL="0" marR="0" lvl="8"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5763"/>
        </a:solidFill>
        <a:effectLst/>
      </p:bgPr>
    </p:bg>
    <p:spTree>
      <p:nvGrpSpPr>
        <p:cNvPr id="1" name="Shape 88"/>
        <p:cNvGrpSpPr/>
        <p:nvPr/>
      </p:nvGrpSpPr>
      <p:grpSpPr>
        <a:xfrm>
          <a:off x="0" y="0"/>
          <a:ext cx="0" cy="0"/>
          <a:chOff x="0" y="0"/>
          <a:chExt cx="0" cy="0"/>
        </a:xfrm>
      </p:grpSpPr>
      <p:sp>
        <p:nvSpPr>
          <p:cNvPr id="90" name="Google Shape;90;p1"/>
          <p:cNvSpPr/>
          <p:nvPr/>
        </p:nvSpPr>
        <p:spPr>
          <a:xfrm>
            <a:off x="4792319" y="-608242"/>
            <a:ext cx="2607364" cy="2607364"/>
          </a:xfrm>
          <a:prstGeom prst="diamond">
            <a:avLst/>
          </a:prstGeom>
          <a:no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91" name="Google Shape;91;p1"/>
          <p:cNvSpPr/>
          <p:nvPr/>
        </p:nvSpPr>
        <p:spPr>
          <a:xfrm>
            <a:off x="4325258" y="-1770743"/>
            <a:ext cx="3541486" cy="3541486"/>
          </a:xfrm>
          <a:prstGeom prst="diamond">
            <a:avLst/>
          </a:prstGeom>
          <a:no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89" name="Google Shape;89;p1"/>
          <p:cNvSpPr txBox="1">
            <a:spLocks noGrp="1"/>
          </p:cNvSpPr>
          <p:nvPr>
            <p:ph type="ctrTitle"/>
          </p:nvPr>
        </p:nvSpPr>
        <p:spPr>
          <a:xfrm>
            <a:off x="1427747" y="695440"/>
            <a:ext cx="9144000" cy="3879000"/>
          </a:xfrm>
          <a:prstGeom prst="rect">
            <a:avLst/>
          </a:prstGeom>
          <a:noFill/>
          <a:ln>
            <a:noFill/>
          </a:ln>
        </p:spPr>
        <p:txBody>
          <a:bodyPr spcFirstLastPara="1" wrap="square" lIns="0" tIns="0" rIns="0" bIns="0" anchor="t" anchorCtr="0">
            <a:spAutoFit/>
          </a:bodyPr>
          <a:lstStyle/>
          <a:p>
            <a:pPr marL="0" lvl="0" indent="0" algn="ctr" rtl="0">
              <a:lnSpc>
                <a:spcPct val="90000"/>
              </a:lnSpc>
              <a:spcBef>
                <a:spcPts val="0"/>
              </a:spcBef>
              <a:spcAft>
                <a:spcPts val="0"/>
              </a:spcAft>
              <a:buClr>
                <a:schemeClr val="lt1"/>
              </a:buClr>
              <a:buSzPts val="6000"/>
              <a:buFont typeface="Century Gothic"/>
              <a:buNone/>
            </a:pPr>
            <a:r>
              <a:rPr lang="es-ES" b="1" dirty="0">
                <a:solidFill>
                  <a:schemeClr val="lt1"/>
                </a:solidFill>
              </a:rPr>
              <a:t>Sistema de alarma para sismos y terremotos en hogar para el adulto mayor</a:t>
            </a:r>
            <a:br>
              <a:rPr lang="es-ES" dirty="0">
                <a:solidFill>
                  <a:schemeClr val="lt1"/>
                </a:solidFill>
              </a:rPr>
            </a:br>
            <a:r>
              <a:rPr lang="es-ES" sz="4000" dirty="0">
                <a:solidFill>
                  <a:schemeClr val="accent4"/>
                </a:solidFill>
              </a:rPr>
              <a:t>“Nuevo Amanecer”</a:t>
            </a:r>
            <a:endParaRPr dirty="0">
              <a:solidFill>
                <a:schemeClr val="accent4"/>
              </a:solidFill>
            </a:endParaRPr>
          </a:p>
        </p:txBody>
      </p:sp>
      <p:sp>
        <p:nvSpPr>
          <p:cNvPr id="92" name="Google Shape;92;p1"/>
          <p:cNvSpPr txBox="1"/>
          <p:nvPr/>
        </p:nvSpPr>
        <p:spPr>
          <a:xfrm>
            <a:off x="3582526" y="6162560"/>
            <a:ext cx="4628148" cy="692497"/>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chemeClr val="lt1"/>
              </a:buClr>
              <a:buSzPts val="2000"/>
              <a:buFont typeface="Century Gothic"/>
              <a:buNone/>
            </a:pPr>
            <a:r>
              <a:rPr lang="es-ES" sz="2000" b="0" i="0" u="none" strike="noStrike" cap="none" dirty="0">
                <a:solidFill>
                  <a:schemeClr val="lt1"/>
                </a:solidFill>
                <a:latin typeface="Century Gothic"/>
                <a:ea typeface="Century Gothic"/>
                <a:cs typeface="Century Gothic"/>
                <a:sym typeface="Century Gothic"/>
              </a:rPr>
              <a:t>Jonatan Alexander Noj Márquez </a:t>
            </a:r>
            <a:br>
              <a:rPr lang="es-ES" sz="2000" b="0" i="0" u="none" strike="noStrike" cap="none" dirty="0">
                <a:solidFill>
                  <a:schemeClr val="lt1"/>
                </a:solidFill>
                <a:latin typeface="Century Gothic"/>
                <a:ea typeface="Century Gothic"/>
                <a:cs typeface="Century Gothic"/>
                <a:sym typeface="Century Gothic"/>
              </a:rPr>
            </a:br>
            <a:r>
              <a:rPr lang="es-ES" sz="2000" dirty="0">
                <a:solidFill>
                  <a:schemeClr val="lt1"/>
                </a:solidFill>
                <a:latin typeface="Century Gothic"/>
                <a:ea typeface="Century Gothic"/>
                <a:cs typeface="Century Gothic"/>
                <a:sym typeface="Century Gothic"/>
              </a:rPr>
              <a:t>3490</a:t>
            </a:r>
            <a:r>
              <a:rPr lang="es-ES" sz="2000" b="0" i="0" u="none" strike="noStrike" cap="none" dirty="0">
                <a:solidFill>
                  <a:schemeClr val="lt1"/>
                </a:solidFill>
                <a:latin typeface="Century Gothic"/>
                <a:ea typeface="Century Gothic"/>
                <a:cs typeface="Century Gothic"/>
                <a:sym typeface="Century Gothic"/>
              </a:rPr>
              <a:t>-16-287</a:t>
            </a:r>
            <a:br>
              <a:rPr lang="es-ES" sz="1000" b="0" i="0" u="none" strike="noStrike" cap="none" dirty="0">
                <a:solidFill>
                  <a:schemeClr val="lt1"/>
                </a:solidFill>
                <a:latin typeface="Century Gothic"/>
                <a:ea typeface="Century Gothic"/>
                <a:cs typeface="Century Gothic"/>
                <a:sym typeface="Century Gothic"/>
              </a:rPr>
            </a:br>
            <a:endParaRPr sz="1000" b="0" i="0" u="none" strike="noStrike" cap="none" dirty="0">
              <a:solidFill>
                <a:schemeClr val="accent4"/>
              </a:solidFill>
              <a:latin typeface="Century Gothic"/>
              <a:ea typeface="Century Gothic"/>
              <a:cs typeface="Century Gothic"/>
              <a:sym typeface="Century Gothic"/>
            </a:endParaRPr>
          </a:p>
        </p:txBody>
      </p:sp>
      <p:pic>
        <p:nvPicPr>
          <p:cNvPr id="93" name="Google Shape;93;p1" descr="Facultad - Arquitectura"/>
          <p:cNvPicPr preferRelativeResize="0"/>
          <p:nvPr/>
        </p:nvPicPr>
        <p:blipFill rotWithShape="1">
          <a:blip r:embed="rId3">
            <a:alphaModFix/>
          </a:blip>
          <a:srcRect/>
          <a:stretch/>
        </p:blipFill>
        <p:spPr>
          <a:xfrm>
            <a:off x="9871576" y="4805082"/>
            <a:ext cx="2114236" cy="196342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cxnSp>
        <p:nvCxnSpPr>
          <p:cNvPr id="99" name="Google Shape;99;p2"/>
          <p:cNvCxnSpPr/>
          <p:nvPr/>
        </p:nvCxnSpPr>
        <p:spPr>
          <a:xfrm>
            <a:off x="8393229" y="522898"/>
            <a:ext cx="3798771" cy="0"/>
          </a:xfrm>
          <a:prstGeom prst="straightConnector1">
            <a:avLst/>
          </a:prstGeom>
          <a:noFill/>
          <a:ln w="9525" cap="flat" cmpd="sng">
            <a:solidFill>
              <a:srgbClr val="085763"/>
            </a:solidFill>
            <a:prstDash val="solid"/>
            <a:miter lim="800000"/>
            <a:headEnd type="oval" w="med" len="med"/>
            <a:tailEnd type="none" w="sm" len="sm"/>
          </a:ln>
        </p:spPr>
      </p:cxnSp>
      <p:sp>
        <p:nvSpPr>
          <p:cNvPr id="100" name="Google Shape;100;p2"/>
          <p:cNvSpPr txBox="1"/>
          <p:nvPr/>
        </p:nvSpPr>
        <p:spPr>
          <a:xfrm>
            <a:off x="228600" y="135100"/>
            <a:ext cx="11734800" cy="387798"/>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3F3F3F"/>
              </a:buClr>
              <a:buSzPts val="2800"/>
              <a:buFont typeface="Century Gothic"/>
              <a:buNone/>
            </a:pPr>
            <a:r>
              <a:rPr lang="es-ES" sz="2800" b="1" i="0" u="none" strike="noStrike" cap="none">
                <a:solidFill>
                  <a:srgbClr val="3F3F3F"/>
                </a:solidFill>
                <a:latin typeface="Century Gothic"/>
                <a:ea typeface="Century Gothic"/>
                <a:cs typeface="Century Gothic"/>
                <a:sym typeface="Century Gothic"/>
              </a:rPr>
              <a:t>Pregunta de investigación</a:t>
            </a:r>
            <a:endParaRPr sz="2800" b="0" i="0" u="none" strike="noStrike" cap="none">
              <a:solidFill>
                <a:srgbClr val="3F3F3F"/>
              </a:solidFill>
              <a:latin typeface="Century Gothic"/>
              <a:ea typeface="Century Gothic"/>
              <a:cs typeface="Century Gothic"/>
              <a:sym typeface="Century Gothic"/>
            </a:endParaRPr>
          </a:p>
        </p:txBody>
      </p:sp>
      <p:cxnSp>
        <p:nvCxnSpPr>
          <p:cNvPr id="101" name="Google Shape;101;p2"/>
          <p:cNvCxnSpPr/>
          <p:nvPr/>
        </p:nvCxnSpPr>
        <p:spPr>
          <a:xfrm>
            <a:off x="0" y="522898"/>
            <a:ext cx="3792354" cy="0"/>
          </a:xfrm>
          <a:prstGeom prst="straightConnector1">
            <a:avLst/>
          </a:prstGeom>
          <a:noFill/>
          <a:ln w="9525" cap="flat" cmpd="sng">
            <a:solidFill>
              <a:srgbClr val="085763"/>
            </a:solidFill>
            <a:prstDash val="solid"/>
            <a:miter lim="800000"/>
            <a:headEnd type="none" w="sm" len="sm"/>
            <a:tailEnd type="oval" w="med" len="med"/>
          </a:ln>
        </p:spPr>
      </p:cxnSp>
      <p:sp>
        <p:nvSpPr>
          <p:cNvPr id="103" name="Google Shape;103;p2"/>
          <p:cNvSpPr txBox="1"/>
          <p:nvPr/>
        </p:nvSpPr>
        <p:spPr>
          <a:xfrm>
            <a:off x="527786" y="321796"/>
            <a:ext cx="10550892" cy="919636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Clr>
                <a:schemeClr val="lt1"/>
              </a:buClr>
              <a:buSzPts val="4400"/>
              <a:buFont typeface="Century Gothic"/>
              <a:buNone/>
            </a:pPr>
            <a:br>
              <a:rPr lang="es-ES" sz="4400" b="0" i="0" u="none" strike="noStrike" cap="none" dirty="0">
                <a:solidFill>
                  <a:schemeClr val="lt1"/>
                </a:solidFill>
                <a:latin typeface="Century Gothic"/>
                <a:ea typeface="Century Gothic"/>
                <a:cs typeface="Century Gothic"/>
                <a:sym typeface="Century Gothic"/>
              </a:rPr>
            </a:br>
            <a:r>
              <a:rPr lang="es-ES" sz="4000" b="0" i="0" u="none" strike="noStrike" cap="none" dirty="0">
                <a:solidFill>
                  <a:schemeClr val="accent4"/>
                </a:solidFill>
                <a:latin typeface="Century Gothic"/>
                <a:ea typeface="Century Gothic"/>
                <a:cs typeface="Century Gothic"/>
                <a:sym typeface="Century Gothic"/>
              </a:rPr>
              <a:t>Pregunta de investigación</a:t>
            </a:r>
            <a:br>
              <a:rPr lang="es-ES" sz="4000" b="0" i="0" u="none" strike="noStrike" cap="none" dirty="0">
                <a:solidFill>
                  <a:schemeClr val="accent4"/>
                </a:solidFill>
                <a:latin typeface="Century Gothic"/>
                <a:ea typeface="Century Gothic"/>
                <a:cs typeface="Century Gothic"/>
                <a:sym typeface="Century Gothic"/>
              </a:rPr>
            </a:br>
            <a:r>
              <a:rPr lang="es-ES" sz="2400" b="0" i="0" u="none" strike="noStrike" cap="none" dirty="0">
                <a:solidFill>
                  <a:schemeClr val="dk1"/>
                </a:solidFill>
                <a:latin typeface="Arial"/>
                <a:ea typeface="Arial"/>
                <a:cs typeface="Arial"/>
                <a:sym typeface="Arial"/>
              </a:rPr>
              <a:t>¿Cómo diseñar e implementar un sistema de alarma efectivo para sismos y terremotos en centros de atención para personas mayores, considerando sus necesidades especiales de atención y cuidado, y evaluando su eficacia en la protección de la vida y la integridad física de este grupo vulnerable ante eventos sísmicos?</a:t>
            </a:r>
            <a:endParaRPr dirty="0"/>
          </a:p>
          <a:p>
            <a:pPr marL="0" marR="0" lvl="0" indent="0" algn="l" rtl="0">
              <a:lnSpc>
                <a:spcPct val="90000"/>
              </a:lnSpc>
              <a:spcBef>
                <a:spcPts val="0"/>
              </a:spcBef>
              <a:spcAft>
                <a:spcPts val="0"/>
              </a:spcAft>
              <a:buClr>
                <a:schemeClr val="accent4"/>
              </a:buClr>
              <a:buSzPts val="4000"/>
              <a:buFont typeface="Century Gothic"/>
              <a:buNone/>
            </a:pP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endParaRPr sz="4400" b="0" i="0" u="none" strike="noStrike" cap="none" dirty="0">
              <a:solidFill>
                <a:schemeClr val="accent4"/>
              </a:solidFill>
              <a:latin typeface="Century Gothic"/>
              <a:ea typeface="Century Gothic"/>
              <a:cs typeface="Century Gothic"/>
              <a:sym typeface="Century Gothic"/>
            </a:endParaRPr>
          </a:p>
        </p:txBody>
      </p:sp>
      <p:pic>
        <p:nvPicPr>
          <p:cNvPr id="2" name="Google Shape;93;p1" descr="Facultad - Arquitectura">
            <a:extLst>
              <a:ext uri="{FF2B5EF4-FFF2-40B4-BE49-F238E27FC236}">
                <a16:creationId xmlns:a16="http://schemas.microsoft.com/office/drawing/2014/main" id="{B50D42A5-8226-124F-AE7A-2A6BFE4A82A3}"/>
              </a:ext>
            </a:extLst>
          </p:cNvPr>
          <p:cNvPicPr preferRelativeResize="0"/>
          <p:nvPr/>
        </p:nvPicPr>
        <p:blipFill rotWithShape="1">
          <a:blip r:embed="rId3">
            <a:alphaModFix/>
          </a:blip>
          <a:srcRect/>
          <a:stretch/>
        </p:blipFill>
        <p:spPr>
          <a:xfrm>
            <a:off x="9871576" y="4805082"/>
            <a:ext cx="2114236" cy="196342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cxnSp>
        <p:nvCxnSpPr>
          <p:cNvPr id="109" name="Google Shape;109;p3"/>
          <p:cNvCxnSpPr/>
          <p:nvPr/>
        </p:nvCxnSpPr>
        <p:spPr>
          <a:xfrm>
            <a:off x="8105775" y="522898"/>
            <a:ext cx="4086225" cy="0"/>
          </a:xfrm>
          <a:prstGeom prst="straightConnector1">
            <a:avLst/>
          </a:prstGeom>
          <a:noFill/>
          <a:ln w="9525" cap="flat" cmpd="sng">
            <a:solidFill>
              <a:srgbClr val="085763"/>
            </a:solidFill>
            <a:prstDash val="solid"/>
            <a:miter lim="800000"/>
            <a:headEnd type="oval" w="med" len="med"/>
            <a:tailEnd type="none" w="sm" len="sm"/>
          </a:ln>
        </p:spPr>
      </p:cxnSp>
      <p:sp>
        <p:nvSpPr>
          <p:cNvPr id="110" name="Google Shape;110;p3"/>
          <p:cNvSpPr txBox="1"/>
          <p:nvPr/>
        </p:nvSpPr>
        <p:spPr>
          <a:xfrm>
            <a:off x="228600" y="190500"/>
            <a:ext cx="11734800" cy="387798"/>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3F3F3F"/>
              </a:buClr>
              <a:buSzPts val="2800"/>
              <a:buFont typeface="Century Gothic"/>
              <a:buNone/>
            </a:pPr>
            <a:r>
              <a:rPr lang="es-ES" sz="2800" b="1" i="0" u="none" strike="noStrike" cap="none">
                <a:solidFill>
                  <a:srgbClr val="3F3F3F"/>
                </a:solidFill>
                <a:latin typeface="Century Gothic"/>
                <a:ea typeface="Century Gothic"/>
                <a:cs typeface="Century Gothic"/>
                <a:sym typeface="Century Gothic"/>
              </a:rPr>
              <a:t>Objetivos</a:t>
            </a:r>
            <a:endParaRPr sz="2800" b="0" i="0" u="none" strike="noStrike" cap="none">
              <a:solidFill>
                <a:srgbClr val="3F3F3F"/>
              </a:solidFill>
              <a:latin typeface="Century Gothic"/>
              <a:ea typeface="Century Gothic"/>
              <a:cs typeface="Century Gothic"/>
              <a:sym typeface="Century Gothic"/>
            </a:endParaRPr>
          </a:p>
        </p:txBody>
      </p:sp>
      <p:cxnSp>
        <p:nvCxnSpPr>
          <p:cNvPr id="111" name="Google Shape;111;p3"/>
          <p:cNvCxnSpPr/>
          <p:nvPr/>
        </p:nvCxnSpPr>
        <p:spPr>
          <a:xfrm>
            <a:off x="0" y="522898"/>
            <a:ext cx="4086225" cy="0"/>
          </a:xfrm>
          <a:prstGeom prst="straightConnector1">
            <a:avLst/>
          </a:prstGeom>
          <a:noFill/>
          <a:ln w="9525" cap="flat" cmpd="sng">
            <a:solidFill>
              <a:srgbClr val="085763"/>
            </a:solidFill>
            <a:prstDash val="solid"/>
            <a:miter lim="800000"/>
            <a:headEnd type="none" w="sm" len="sm"/>
            <a:tailEnd type="oval" w="med" len="med"/>
          </a:ln>
        </p:spPr>
      </p:cxnSp>
      <p:sp>
        <p:nvSpPr>
          <p:cNvPr id="112" name="Google Shape;112;p3"/>
          <p:cNvSpPr/>
          <p:nvPr/>
        </p:nvSpPr>
        <p:spPr>
          <a:xfrm>
            <a:off x="352124" y="910696"/>
            <a:ext cx="11361821" cy="1761893"/>
          </a:xfrm>
          <a:prstGeom prst="rect">
            <a:avLst/>
          </a:prstGeom>
          <a:noFill/>
          <a:ln>
            <a:noFill/>
          </a:ln>
        </p:spPr>
        <p:txBody>
          <a:bodyPr spcFirstLastPara="1" wrap="square" lIns="0" tIns="0" rIns="0" bIns="0" anchor="t" anchorCtr="0">
            <a:spAutoFit/>
          </a:bodyPr>
          <a:lstStyle/>
          <a:p>
            <a:pPr marL="0" marR="0" lvl="0" indent="0" algn="l" rtl="0">
              <a:lnSpc>
                <a:spcPct val="200000"/>
              </a:lnSpc>
              <a:spcBef>
                <a:spcPts val="0"/>
              </a:spcBef>
              <a:spcAft>
                <a:spcPts val="0"/>
              </a:spcAft>
              <a:buNone/>
            </a:pPr>
            <a:r>
              <a:rPr lang="es-ES" sz="2400" b="1" i="0" u="none" strike="noStrike" cap="none">
                <a:solidFill>
                  <a:srgbClr val="3F3F3F"/>
                </a:solidFill>
                <a:latin typeface="Quattrocento Sans"/>
                <a:ea typeface="Quattrocento Sans"/>
                <a:cs typeface="Quattrocento Sans"/>
                <a:sym typeface="Quattrocento Sans"/>
              </a:rPr>
              <a:t>OBJETIVO GENERAL</a:t>
            </a:r>
            <a:br>
              <a:rPr lang="es-ES" sz="1400" b="0" i="0" u="none" strike="noStrike" cap="none">
                <a:solidFill>
                  <a:srgbClr val="3F3F3F"/>
                </a:solidFill>
                <a:latin typeface="Quattrocento Sans"/>
                <a:ea typeface="Quattrocento Sans"/>
                <a:cs typeface="Quattrocento Sans"/>
                <a:sym typeface="Quattrocento Sans"/>
              </a:rPr>
            </a:br>
            <a:r>
              <a:rPr lang="es-ES" sz="1400" b="0" i="0" u="none" strike="noStrike" cap="none">
                <a:solidFill>
                  <a:srgbClr val="3F3F3F"/>
                </a:solidFill>
                <a:latin typeface="Quattrocento Sans"/>
                <a:ea typeface="Quattrocento Sans"/>
                <a:cs typeface="Quattrocento Sans"/>
                <a:sym typeface="Quattrocento Sans"/>
              </a:rPr>
              <a:t>Implementar un sistema de ala</a:t>
            </a:r>
            <a:r>
              <a:rPr lang="es-ES">
                <a:solidFill>
                  <a:srgbClr val="3F3F3F"/>
                </a:solidFill>
                <a:latin typeface="Quattrocento Sans"/>
                <a:ea typeface="Quattrocento Sans"/>
                <a:cs typeface="Quattrocento Sans"/>
                <a:sym typeface="Quattrocento Sans"/>
              </a:rPr>
              <a:t>rma para sismos y terremotos en Hogar “Nuevo Amanecer” para el adulto mayor, con el fin de proteger su vida e integridad física y reducir los daños materiales y estructurales.</a:t>
            </a:r>
            <a:endParaRPr sz="1400" b="0" i="0" u="none" strike="noStrike" cap="none">
              <a:solidFill>
                <a:srgbClr val="3F3F3F"/>
              </a:solidFill>
              <a:latin typeface="Quattrocento Sans"/>
              <a:ea typeface="Quattrocento Sans"/>
              <a:cs typeface="Quattrocento Sans"/>
              <a:sym typeface="Quattrocento Sans"/>
            </a:endParaRPr>
          </a:p>
        </p:txBody>
      </p:sp>
      <p:sp>
        <p:nvSpPr>
          <p:cNvPr id="114" name="Google Shape;114;p3"/>
          <p:cNvSpPr/>
          <p:nvPr/>
        </p:nvSpPr>
        <p:spPr>
          <a:xfrm>
            <a:off x="352124" y="3273235"/>
            <a:ext cx="2743200" cy="465600"/>
          </a:xfrm>
          <a:prstGeom prst="rect">
            <a:avLst/>
          </a:prstGeom>
          <a:noFill/>
          <a:ln>
            <a:noFill/>
          </a:ln>
        </p:spPr>
        <p:txBody>
          <a:bodyPr spcFirstLastPara="1" wrap="square" lIns="0" tIns="0" rIns="0" bIns="0" anchor="t" anchorCtr="0">
            <a:spAutoFit/>
          </a:bodyPr>
          <a:lstStyle/>
          <a:p>
            <a:pPr marL="0" lvl="0" indent="0" algn="ctr" rtl="0">
              <a:lnSpc>
                <a:spcPct val="150000"/>
              </a:lnSpc>
              <a:spcBef>
                <a:spcPts val="0"/>
              </a:spcBef>
              <a:spcAft>
                <a:spcPts val="0"/>
              </a:spcAft>
              <a:buNone/>
            </a:pPr>
            <a:r>
              <a:rPr lang="es-ES" b="1" dirty="0">
                <a:solidFill>
                  <a:srgbClr val="CA7A09"/>
                </a:solidFill>
                <a:latin typeface="Times New Roman"/>
                <a:ea typeface="Times New Roman"/>
                <a:cs typeface="Times New Roman"/>
                <a:sym typeface="Times New Roman"/>
              </a:rPr>
              <a:t>Reducir entre 15 a 20 minutos el tiempo de evacuación de los residentes y colaboradores en relación a los 30 minutos que se utilizan actualmente según pruebas realizadas.</a:t>
            </a:r>
            <a:endParaRPr b="1" dirty="0">
              <a:solidFill>
                <a:srgbClr val="CA7A09"/>
              </a:solidFill>
            </a:endParaRPr>
          </a:p>
        </p:txBody>
      </p:sp>
      <p:cxnSp>
        <p:nvCxnSpPr>
          <p:cNvPr id="115" name="Google Shape;115;p3"/>
          <p:cNvCxnSpPr/>
          <p:nvPr/>
        </p:nvCxnSpPr>
        <p:spPr>
          <a:xfrm>
            <a:off x="3373256" y="3534279"/>
            <a:ext cx="0" cy="1206500"/>
          </a:xfrm>
          <a:prstGeom prst="straightConnector1">
            <a:avLst/>
          </a:prstGeom>
          <a:noFill/>
          <a:ln w="9525" cap="flat" cmpd="sng">
            <a:solidFill>
              <a:srgbClr val="085763"/>
            </a:solidFill>
            <a:prstDash val="solid"/>
            <a:miter lim="800000"/>
            <a:headEnd type="none" w="sm" len="sm"/>
            <a:tailEnd type="none" w="sm" len="sm"/>
          </a:ln>
        </p:spPr>
      </p:cxnSp>
      <p:sp>
        <p:nvSpPr>
          <p:cNvPr id="116" name="Google Shape;116;p3"/>
          <p:cNvSpPr/>
          <p:nvPr/>
        </p:nvSpPr>
        <p:spPr>
          <a:xfrm>
            <a:off x="3846575" y="3273235"/>
            <a:ext cx="2743200" cy="709200"/>
          </a:xfrm>
          <a:prstGeom prst="rect">
            <a:avLst/>
          </a:prstGeom>
          <a:noFill/>
          <a:ln>
            <a:noFill/>
          </a:ln>
        </p:spPr>
        <p:txBody>
          <a:bodyPr spcFirstLastPara="1" wrap="square" lIns="0" tIns="0" rIns="0" bIns="0" anchor="t" anchorCtr="0">
            <a:spAutoFit/>
          </a:bodyPr>
          <a:lstStyle/>
          <a:p>
            <a:pPr marL="0" lvl="0" indent="0" algn="ctr" rtl="0">
              <a:lnSpc>
                <a:spcPct val="150000"/>
              </a:lnSpc>
              <a:spcBef>
                <a:spcPts val="0"/>
              </a:spcBef>
              <a:spcAft>
                <a:spcPts val="0"/>
              </a:spcAft>
              <a:buNone/>
            </a:pPr>
            <a:r>
              <a:rPr lang="es-ES" b="1" dirty="0">
                <a:solidFill>
                  <a:srgbClr val="CA7A09"/>
                </a:solidFill>
                <a:latin typeface="Times New Roman"/>
                <a:ea typeface="Times New Roman"/>
                <a:cs typeface="Times New Roman"/>
                <a:sym typeface="Times New Roman"/>
              </a:rPr>
              <a:t>Reducir los costos de atención médica a un 90% mediante la aplicación de una evacuación efectiva.</a:t>
            </a:r>
            <a:endParaRPr sz="1600" b="1" dirty="0">
              <a:solidFill>
                <a:srgbClr val="CA7A09"/>
              </a:solidFill>
            </a:endParaRPr>
          </a:p>
        </p:txBody>
      </p:sp>
      <p:sp>
        <p:nvSpPr>
          <p:cNvPr id="117" name="Google Shape;117;p3"/>
          <p:cNvSpPr/>
          <p:nvPr/>
        </p:nvSpPr>
        <p:spPr>
          <a:xfrm>
            <a:off x="7988494" y="3506035"/>
            <a:ext cx="2743195" cy="465577"/>
          </a:xfrm>
          <a:prstGeom prst="rect">
            <a:avLst/>
          </a:prstGeom>
          <a:noFill/>
          <a:ln>
            <a:noFill/>
          </a:ln>
        </p:spPr>
        <p:txBody>
          <a:bodyPr spcFirstLastPara="1" wrap="square" lIns="0" tIns="0" rIns="0" bIns="0" anchor="ctr" anchorCtr="0">
            <a:spAutoFit/>
          </a:bodyPr>
          <a:lstStyle/>
          <a:p>
            <a:pPr marL="0" lvl="0" indent="0" algn="l" rtl="0">
              <a:lnSpc>
                <a:spcPct val="150000"/>
              </a:lnSpc>
              <a:spcBef>
                <a:spcPts val="0"/>
              </a:spcBef>
              <a:spcAft>
                <a:spcPts val="0"/>
              </a:spcAft>
              <a:buNone/>
            </a:pPr>
            <a:r>
              <a:rPr lang="es-ES" b="1" dirty="0">
                <a:solidFill>
                  <a:srgbClr val="CA7A09"/>
                </a:solidFill>
                <a:latin typeface="Times New Roman"/>
                <a:ea typeface="Times New Roman"/>
                <a:cs typeface="Times New Roman"/>
                <a:sym typeface="Times New Roman"/>
              </a:rPr>
              <a:t>Aumentar a un 100% la confianza de funcionalidad del sistema a residentes y colaboradores.</a:t>
            </a:r>
            <a:endParaRPr b="1" dirty="0">
              <a:solidFill>
                <a:srgbClr val="CA7A09"/>
              </a:solidFill>
            </a:endParaRPr>
          </a:p>
        </p:txBody>
      </p:sp>
      <p:cxnSp>
        <p:nvCxnSpPr>
          <p:cNvPr id="118" name="Google Shape;118;p3"/>
          <p:cNvCxnSpPr/>
          <p:nvPr/>
        </p:nvCxnSpPr>
        <p:spPr>
          <a:xfrm>
            <a:off x="7289134" y="3534279"/>
            <a:ext cx="0" cy="1206500"/>
          </a:xfrm>
          <a:prstGeom prst="straightConnector1">
            <a:avLst/>
          </a:prstGeom>
          <a:noFill/>
          <a:ln w="9525" cap="flat" cmpd="sng">
            <a:solidFill>
              <a:srgbClr val="085763"/>
            </a:solidFill>
            <a:prstDash val="solid"/>
            <a:miter lim="800000"/>
            <a:headEnd type="none" w="sm" len="sm"/>
            <a:tailEnd type="none" w="sm" len="sm"/>
          </a:ln>
        </p:spPr>
      </p:cxnSp>
      <p:pic>
        <p:nvPicPr>
          <p:cNvPr id="4" name="Google Shape;93;p1" descr="Facultad - Arquitectura">
            <a:extLst>
              <a:ext uri="{FF2B5EF4-FFF2-40B4-BE49-F238E27FC236}">
                <a16:creationId xmlns:a16="http://schemas.microsoft.com/office/drawing/2014/main" id="{AC9AA0C7-72EF-E516-702A-83B090E2E911}"/>
              </a:ext>
            </a:extLst>
          </p:cNvPr>
          <p:cNvPicPr preferRelativeResize="0"/>
          <p:nvPr/>
        </p:nvPicPr>
        <p:blipFill rotWithShape="1">
          <a:blip r:embed="rId3">
            <a:alphaModFix/>
          </a:blip>
          <a:srcRect/>
          <a:stretch/>
        </p:blipFill>
        <p:spPr>
          <a:xfrm>
            <a:off x="9871576" y="4805082"/>
            <a:ext cx="2114236" cy="196342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cxnSp>
        <p:nvCxnSpPr>
          <p:cNvPr id="124" name="Google Shape;124;p4"/>
          <p:cNvCxnSpPr/>
          <p:nvPr/>
        </p:nvCxnSpPr>
        <p:spPr>
          <a:xfrm>
            <a:off x="8393229" y="522898"/>
            <a:ext cx="3798771" cy="0"/>
          </a:xfrm>
          <a:prstGeom prst="straightConnector1">
            <a:avLst/>
          </a:prstGeom>
          <a:noFill/>
          <a:ln w="9525" cap="flat" cmpd="sng">
            <a:solidFill>
              <a:srgbClr val="085763"/>
            </a:solidFill>
            <a:prstDash val="solid"/>
            <a:miter lim="800000"/>
            <a:headEnd type="oval" w="med" len="med"/>
            <a:tailEnd type="none" w="sm" len="sm"/>
          </a:ln>
        </p:spPr>
      </p:cxnSp>
      <p:sp>
        <p:nvSpPr>
          <p:cNvPr id="125" name="Google Shape;125;p4"/>
          <p:cNvSpPr txBox="1"/>
          <p:nvPr/>
        </p:nvSpPr>
        <p:spPr>
          <a:xfrm>
            <a:off x="228600" y="135100"/>
            <a:ext cx="11734800" cy="387798"/>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3F3F3F"/>
              </a:buClr>
              <a:buSzPts val="2800"/>
              <a:buFont typeface="Century Gothic"/>
              <a:buNone/>
            </a:pPr>
            <a:r>
              <a:rPr lang="es-ES" sz="2800" b="1" i="0" u="none" strike="noStrike" cap="none">
                <a:solidFill>
                  <a:srgbClr val="3F3F3F"/>
                </a:solidFill>
                <a:latin typeface="Century Gothic"/>
                <a:ea typeface="Century Gothic"/>
                <a:cs typeface="Century Gothic"/>
                <a:sym typeface="Century Gothic"/>
              </a:rPr>
              <a:t>Hipótesis</a:t>
            </a:r>
            <a:endParaRPr sz="2800" b="0" i="0" u="none" strike="noStrike" cap="none">
              <a:solidFill>
                <a:srgbClr val="3F3F3F"/>
              </a:solidFill>
              <a:latin typeface="Century Gothic"/>
              <a:ea typeface="Century Gothic"/>
              <a:cs typeface="Century Gothic"/>
              <a:sym typeface="Century Gothic"/>
            </a:endParaRPr>
          </a:p>
        </p:txBody>
      </p:sp>
      <p:cxnSp>
        <p:nvCxnSpPr>
          <p:cNvPr id="126" name="Google Shape;126;p4"/>
          <p:cNvCxnSpPr/>
          <p:nvPr/>
        </p:nvCxnSpPr>
        <p:spPr>
          <a:xfrm>
            <a:off x="0" y="522898"/>
            <a:ext cx="3792354" cy="0"/>
          </a:xfrm>
          <a:prstGeom prst="straightConnector1">
            <a:avLst/>
          </a:prstGeom>
          <a:noFill/>
          <a:ln w="9525" cap="flat" cmpd="sng">
            <a:solidFill>
              <a:srgbClr val="085763"/>
            </a:solidFill>
            <a:prstDash val="solid"/>
            <a:miter lim="800000"/>
            <a:headEnd type="none" w="sm" len="sm"/>
            <a:tailEnd type="oval" w="med" len="med"/>
          </a:ln>
        </p:spPr>
      </p:cxnSp>
      <p:sp>
        <p:nvSpPr>
          <p:cNvPr id="128" name="Google Shape;128;p4"/>
          <p:cNvSpPr txBox="1"/>
          <p:nvPr/>
        </p:nvSpPr>
        <p:spPr>
          <a:xfrm>
            <a:off x="527786" y="321796"/>
            <a:ext cx="10551000" cy="8593200"/>
          </a:xfrm>
          <a:prstGeom prst="rect">
            <a:avLst/>
          </a:prstGeom>
          <a:noFill/>
          <a:ln>
            <a:noFill/>
          </a:ln>
        </p:spPr>
        <p:txBody>
          <a:bodyPr spcFirstLastPara="1" wrap="square" lIns="0" tIns="0" rIns="0" bIns="0" anchor="t" anchorCtr="0">
            <a:spAutoFit/>
          </a:bodyPr>
          <a:lstStyle/>
          <a:p>
            <a:pPr marL="0" marR="0" lvl="0" indent="0" algn="just" rtl="0">
              <a:lnSpc>
                <a:spcPct val="200000"/>
              </a:lnSpc>
              <a:spcBef>
                <a:spcPts val="0"/>
              </a:spcBef>
              <a:spcAft>
                <a:spcPts val="0"/>
              </a:spcAft>
              <a:buClr>
                <a:schemeClr val="accent4"/>
              </a:buClr>
              <a:buSzPts val="4000"/>
              <a:buFont typeface="Century Gothic"/>
              <a:buNone/>
            </a:pPr>
            <a:br>
              <a:rPr lang="es-ES" sz="4000" b="0" i="0" u="none" strike="noStrike" cap="none">
                <a:solidFill>
                  <a:schemeClr val="accent4"/>
                </a:solidFill>
                <a:latin typeface="Century Gothic"/>
                <a:ea typeface="Century Gothic"/>
                <a:cs typeface="Century Gothic"/>
                <a:sym typeface="Century Gothic"/>
              </a:rPr>
            </a:br>
            <a:r>
              <a:rPr lang="es-ES" sz="1800" b="0" i="0" u="none" strike="noStrike" cap="none">
                <a:solidFill>
                  <a:schemeClr val="dk1"/>
                </a:solidFill>
                <a:latin typeface="Century Gothic"/>
                <a:ea typeface="Century Gothic"/>
                <a:cs typeface="Century Gothic"/>
                <a:sym typeface="Century Gothic"/>
              </a:rPr>
              <a:t>Se espera que este sistema </a:t>
            </a:r>
            <a:r>
              <a:rPr lang="es-ES" sz="1800">
                <a:solidFill>
                  <a:schemeClr val="dk1"/>
                </a:solidFill>
                <a:latin typeface="Century Gothic"/>
                <a:ea typeface="Century Gothic"/>
                <a:cs typeface="Century Gothic"/>
                <a:sym typeface="Century Gothic"/>
              </a:rPr>
              <a:t>proporcione</a:t>
            </a:r>
            <a:r>
              <a:rPr lang="es-ES" sz="1800" b="0" i="0" u="none" strike="noStrike" cap="none">
                <a:solidFill>
                  <a:schemeClr val="dk1"/>
                </a:solidFill>
                <a:latin typeface="Century Gothic"/>
                <a:ea typeface="Century Gothic"/>
                <a:cs typeface="Century Gothic"/>
                <a:sym typeface="Century Gothic"/>
              </a:rPr>
              <a:t> una alerta temprana a los residentes y al personal del centro, permitiéndoles tomar medidas de seguridad necesarias, como evacuar el edificio o resguardarse en áreas seguras. Además, se espera que la implementación del sistema de alarma reduzca el tiempo de respuesta ante un sismo o terremoto, lo que podría reducir los daños materiales y personales en el centro y en su entorno cercano.</a:t>
            </a:r>
            <a:endParaRPr/>
          </a:p>
          <a:p>
            <a:pPr marL="0" marR="0" lvl="0" indent="0" algn="l" rtl="0">
              <a:lnSpc>
                <a:spcPct val="90000"/>
              </a:lnSpc>
              <a:spcBef>
                <a:spcPts val="800"/>
              </a:spcBef>
              <a:spcAft>
                <a:spcPts val="0"/>
              </a:spcAft>
              <a:buClr>
                <a:schemeClr val="accent4"/>
              </a:buClr>
              <a:buSzPts val="4000"/>
              <a:buFont typeface="Century Gothic"/>
              <a:buNone/>
            </a:pPr>
            <a:br>
              <a:rPr lang="es-ES" sz="4000" b="0" i="0" u="none" strike="noStrike" cap="none">
                <a:solidFill>
                  <a:schemeClr val="accent4"/>
                </a:solidFill>
                <a:latin typeface="Century Gothic"/>
                <a:ea typeface="Century Gothic"/>
                <a:cs typeface="Century Gothic"/>
                <a:sym typeface="Century Gothic"/>
              </a:rPr>
            </a:br>
            <a:br>
              <a:rPr lang="es-ES" sz="4000" b="0" i="0" u="none" strike="noStrike" cap="none">
                <a:solidFill>
                  <a:schemeClr val="accent4"/>
                </a:solidFill>
                <a:latin typeface="Century Gothic"/>
                <a:ea typeface="Century Gothic"/>
                <a:cs typeface="Century Gothic"/>
                <a:sym typeface="Century Gothic"/>
              </a:rPr>
            </a:br>
            <a:br>
              <a:rPr lang="es-ES" sz="4000" b="0" i="0" u="none" strike="noStrike" cap="none">
                <a:solidFill>
                  <a:schemeClr val="accent4"/>
                </a:solidFill>
                <a:latin typeface="Century Gothic"/>
                <a:ea typeface="Century Gothic"/>
                <a:cs typeface="Century Gothic"/>
                <a:sym typeface="Century Gothic"/>
              </a:rPr>
            </a:br>
            <a:br>
              <a:rPr lang="es-ES" sz="4000" b="0" i="0" u="none" strike="noStrike" cap="none">
                <a:solidFill>
                  <a:schemeClr val="accent4"/>
                </a:solidFill>
                <a:latin typeface="Century Gothic"/>
                <a:ea typeface="Century Gothic"/>
                <a:cs typeface="Century Gothic"/>
                <a:sym typeface="Century Gothic"/>
              </a:rPr>
            </a:br>
            <a:br>
              <a:rPr lang="es-ES" sz="4000" b="0" i="0" u="none" strike="noStrike" cap="none">
                <a:solidFill>
                  <a:schemeClr val="accent4"/>
                </a:solidFill>
                <a:latin typeface="Century Gothic"/>
                <a:ea typeface="Century Gothic"/>
                <a:cs typeface="Century Gothic"/>
                <a:sym typeface="Century Gothic"/>
              </a:rPr>
            </a:br>
            <a:br>
              <a:rPr lang="es-ES" sz="4000" b="0" i="0" u="none" strike="noStrike" cap="none">
                <a:solidFill>
                  <a:schemeClr val="accent4"/>
                </a:solidFill>
                <a:latin typeface="Century Gothic"/>
                <a:ea typeface="Century Gothic"/>
                <a:cs typeface="Century Gothic"/>
                <a:sym typeface="Century Gothic"/>
              </a:rPr>
            </a:br>
            <a:br>
              <a:rPr lang="es-ES" sz="4000" b="0" i="0" u="none" strike="noStrike" cap="none">
                <a:solidFill>
                  <a:schemeClr val="accent4"/>
                </a:solidFill>
                <a:latin typeface="Century Gothic"/>
                <a:ea typeface="Century Gothic"/>
                <a:cs typeface="Century Gothic"/>
                <a:sym typeface="Century Gothic"/>
              </a:rPr>
            </a:br>
            <a:endParaRPr sz="4400" b="0" i="0" u="none" strike="noStrike" cap="none">
              <a:solidFill>
                <a:schemeClr val="accent4"/>
              </a:solidFill>
              <a:latin typeface="Century Gothic"/>
              <a:ea typeface="Century Gothic"/>
              <a:cs typeface="Century Gothic"/>
              <a:sym typeface="Century Gothic"/>
            </a:endParaRPr>
          </a:p>
        </p:txBody>
      </p:sp>
      <p:pic>
        <p:nvPicPr>
          <p:cNvPr id="2" name="Google Shape;93;p1" descr="Facultad - Arquitectura">
            <a:extLst>
              <a:ext uri="{FF2B5EF4-FFF2-40B4-BE49-F238E27FC236}">
                <a16:creationId xmlns:a16="http://schemas.microsoft.com/office/drawing/2014/main" id="{CCE690F4-8372-5CCE-05D8-ACB899AB832E}"/>
              </a:ext>
            </a:extLst>
          </p:cNvPr>
          <p:cNvPicPr preferRelativeResize="0"/>
          <p:nvPr/>
        </p:nvPicPr>
        <p:blipFill rotWithShape="1">
          <a:blip r:embed="rId3">
            <a:alphaModFix/>
          </a:blip>
          <a:srcRect/>
          <a:stretch/>
        </p:blipFill>
        <p:spPr>
          <a:xfrm>
            <a:off x="9871576" y="4805082"/>
            <a:ext cx="2114236" cy="19634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5"/>
          <p:cNvSpPr/>
          <p:nvPr/>
        </p:nvSpPr>
        <p:spPr>
          <a:xfrm>
            <a:off x="4111626" y="1720850"/>
            <a:ext cx="3968700" cy="3968700"/>
          </a:xfrm>
          <a:prstGeom prst="ellipse">
            <a:avLst/>
          </a:prstGeom>
          <a:noFill/>
          <a:ln w="12700" cap="flat" cmpd="sng">
            <a:solidFill>
              <a:schemeClr val="dk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cxnSp>
        <p:nvCxnSpPr>
          <p:cNvPr id="135" name="Google Shape;135;p5"/>
          <p:cNvCxnSpPr/>
          <p:nvPr/>
        </p:nvCxnSpPr>
        <p:spPr>
          <a:xfrm>
            <a:off x="8105775" y="522898"/>
            <a:ext cx="4086225" cy="0"/>
          </a:xfrm>
          <a:prstGeom prst="straightConnector1">
            <a:avLst/>
          </a:prstGeom>
          <a:noFill/>
          <a:ln w="9525" cap="flat" cmpd="sng">
            <a:solidFill>
              <a:srgbClr val="085763"/>
            </a:solidFill>
            <a:prstDash val="solid"/>
            <a:miter lim="800000"/>
            <a:headEnd type="oval" w="med" len="med"/>
            <a:tailEnd type="none" w="sm" len="sm"/>
          </a:ln>
        </p:spPr>
      </p:cxnSp>
      <p:cxnSp>
        <p:nvCxnSpPr>
          <p:cNvPr id="136" name="Google Shape;136;p5"/>
          <p:cNvCxnSpPr/>
          <p:nvPr/>
        </p:nvCxnSpPr>
        <p:spPr>
          <a:xfrm>
            <a:off x="0" y="522898"/>
            <a:ext cx="4086225" cy="0"/>
          </a:xfrm>
          <a:prstGeom prst="straightConnector1">
            <a:avLst/>
          </a:prstGeom>
          <a:noFill/>
          <a:ln w="9525" cap="flat" cmpd="sng">
            <a:solidFill>
              <a:srgbClr val="085763"/>
            </a:solidFill>
            <a:prstDash val="solid"/>
            <a:miter lim="800000"/>
            <a:headEnd type="none" w="sm" len="sm"/>
            <a:tailEnd type="oval" w="med" len="med"/>
          </a:ln>
        </p:spPr>
      </p:cxnSp>
      <p:sp>
        <p:nvSpPr>
          <p:cNvPr id="137" name="Google Shape;137;p5"/>
          <p:cNvSpPr/>
          <p:nvPr/>
        </p:nvSpPr>
        <p:spPr>
          <a:xfrm>
            <a:off x="5248275" y="2857500"/>
            <a:ext cx="1695450" cy="1695450"/>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800" b="1" i="0" u="none" strike="noStrike" cap="none" dirty="0">
                <a:solidFill>
                  <a:schemeClr val="lt1"/>
                </a:solidFill>
                <a:latin typeface="Quattrocento Sans"/>
                <a:ea typeface="Quattrocento Sans"/>
                <a:cs typeface="Quattrocento Sans"/>
                <a:sym typeface="Quattrocento Sans"/>
              </a:rPr>
              <a:t>Variables</a:t>
            </a:r>
            <a:endParaRPr b="0" i="0" u="none" strike="noStrike" cap="none" dirty="0">
              <a:solidFill>
                <a:schemeClr val="lt1"/>
              </a:solidFill>
              <a:latin typeface="Quattrocento Sans"/>
              <a:ea typeface="Quattrocento Sans"/>
              <a:cs typeface="Quattrocento Sans"/>
              <a:sym typeface="Quattrocento Sans"/>
            </a:endParaRPr>
          </a:p>
          <a:p>
            <a:pPr marL="0" marR="0" lvl="0" indent="0" algn="ctr" rtl="0">
              <a:spcBef>
                <a:spcPts val="0"/>
              </a:spcBef>
              <a:spcAft>
                <a:spcPts val="0"/>
              </a:spcAft>
              <a:buNone/>
            </a:pPr>
            <a:endParaRPr sz="1500" b="1" i="0" u="none" strike="noStrike" cap="none" dirty="0">
              <a:solidFill>
                <a:schemeClr val="lt1"/>
              </a:solidFill>
              <a:latin typeface="Century Gothic"/>
              <a:ea typeface="Century Gothic"/>
              <a:cs typeface="Century Gothic"/>
              <a:sym typeface="Century Gothic"/>
            </a:endParaRPr>
          </a:p>
        </p:txBody>
      </p:sp>
      <p:sp>
        <p:nvSpPr>
          <p:cNvPr id="138" name="Google Shape;138;p5"/>
          <p:cNvSpPr/>
          <p:nvPr/>
        </p:nvSpPr>
        <p:spPr>
          <a:xfrm>
            <a:off x="6943725" y="1613877"/>
            <a:ext cx="3660775" cy="740997"/>
          </a:xfrm>
          <a:prstGeom prst="roundRect">
            <a:avLst>
              <a:gd name="adj" fmla="val 50000"/>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600" b="0" i="0" u="none" strike="noStrike" cap="none">
                <a:solidFill>
                  <a:schemeClr val="lt1"/>
                </a:solidFill>
                <a:latin typeface="Quattrocento Sans"/>
                <a:ea typeface="Quattrocento Sans"/>
                <a:cs typeface="Quattrocento Sans"/>
                <a:sym typeface="Quattrocento Sans"/>
              </a:rPr>
              <a:t>DEPENDIENTES</a:t>
            </a:r>
            <a:endParaRPr/>
          </a:p>
        </p:txBody>
      </p:sp>
      <p:sp>
        <p:nvSpPr>
          <p:cNvPr id="139" name="Google Shape;139;p5"/>
          <p:cNvSpPr/>
          <p:nvPr/>
        </p:nvSpPr>
        <p:spPr>
          <a:xfrm>
            <a:off x="6832600" y="1514475"/>
            <a:ext cx="939800" cy="939800"/>
          </a:xfrm>
          <a:prstGeom prst="ellipse">
            <a:avLst/>
          </a:prstGeom>
          <a:solidFill>
            <a:srgbClr val="CA7A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40" name="Google Shape;140;p5"/>
          <p:cNvSpPr/>
          <p:nvPr/>
        </p:nvSpPr>
        <p:spPr>
          <a:xfrm>
            <a:off x="7693025" y="2801327"/>
            <a:ext cx="3660900" cy="741000"/>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600" b="0" i="0" u="none" strike="noStrike" cap="none">
                <a:solidFill>
                  <a:schemeClr val="lt1"/>
                </a:solidFill>
                <a:latin typeface="Quattrocento Sans"/>
                <a:ea typeface="Quattrocento Sans"/>
                <a:cs typeface="Quattrocento Sans"/>
                <a:sym typeface="Quattrocento Sans"/>
              </a:rPr>
              <a:t>Tiempo de respuesta</a:t>
            </a:r>
            <a:endParaRPr/>
          </a:p>
        </p:txBody>
      </p:sp>
      <p:sp>
        <p:nvSpPr>
          <p:cNvPr id="141" name="Google Shape;141;p5"/>
          <p:cNvSpPr/>
          <p:nvPr/>
        </p:nvSpPr>
        <p:spPr>
          <a:xfrm>
            <a:off x="7490264" y="2701925"/>
            <a:ext cx="939900" cy="939900"/>
          </a:xfrm>
          <a:prstGeom prst="ellipse">
            <a:avLst/>
          </a:prstGeom>
          <a:solidFill>
            <a:srgbClr val="0C8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42" name="Google Shape;142;p5"/>
          <p:cNvSpPr/>
          <p:nvPr/>
        </p:nvSpPr>
        <p:spPr>
          <a:xfrm>
            <a:off x="7781925" y="3859578"/>
            <a:ext cx="3660900" cy="741000"/>
          </a:xfrm>
          <a:prstGeom prst="roundRect">
            <a:avLst>
              <a:gd name="adj" fmla="val 50000"/>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600" b="0" i="0" u="none" strike="noStrike" cap="none">
                <a:solidFill>
                  <a:schemeClr val="lt1"/>
                </a:solidFill>
                <a:latin typeface="Quattrocento Sans"/>
                <a:ea typeface="Quattrocento Sans"/>
                <a:cs typeface="Quattrocento Sans"/>
                <a:sym typeface="Quattrocento Sans"/>
              </a:rPr>
              <a:t>Reducción de daños</a:t>
            </a:r>
            <a:endParaRPr/>
          </a:p>
        </p:txBody>
      </p:sp>
      <p:sp>
        <p:nvSpPr>
          <p:cNvPr id="143" name="Google Shape;143;p5"/>
          <p:cNvSpPr/>
          <p:nvPr/>
        </p:nvSpPr>
        <p:spPr>
          <a:xfrm>
            <a:off x="7670800" y="3760176"/>
            <a:ext cx="939900" cy="939900"/>
          </a:xfrm>
          <a:prstGeom prst="ellipse">
            <a:avLst/>
          </a:prstGeom>
          <a:solidFill>
            <a:srgbClr val="CA7A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44" name="Google Shape;144;p5"/>
          <p:cNvSpPr/>
          <p:nvPr/>
        </p:nvSpPr>
        <p:spPr>
          <a:xfrm>
            <a:off x="1587500" y="1613877"/>
            <a:ext cx="3660775" cy="740997"/>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600" b="0" i="0" u="none" strike="noStrike" cap="none">
                <a:solidFill>
                  <a:schemeClr val="lt1"/>
                </a:solidFill>
                <a:latin typeface="Quattrocento Sans"/>
                <a:ea typeface="Quattrocento Sans"/>
                <a:cs typeface="Quattrocento Sans"/>
                <a:sym typeface="Quattrocento Sans"/>
              </a:rPr>
              <a:t>INDEPENDIENTE </a:t>
            </a:r>
            <a:endParaRPr/>
          </a:p>
        </p:txBody>
      </p:sp>
      <p:sp>
        <p:nvSpPr>
          <p:cNvPr id="145" name="Google Shape;145;p5"/>
          <p:cNvSpPr/>
          <p:nvPr/>
        </p:nvSpPr>
        <p:spPr>
          <a:xfrm>
            <a:off x="4419600" y="1514475"/>
            <a:ext cx="939800" cy="939800"/>
          </a:xfrm>
          <a:prstGeom prst="ellipse">
            <a:avLst/>
          </a:prstGeom>
          <a:solidFill>
            <a:srgbClr val="0C82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46" name="Google Shape;146;p5"/>
          <p:cNvSpPr/>
          <p:nvPr/>
        </p:nvSpPr>
        <p:spPr>
          <a:xfrm>
            <a:off x="838200" y="3334727"/>
            <a:ext cx="3660775" cy="740997"/>
          </a:xfrm>
          <a:prstGeom prst="roundRect">
            <a:avLst>
              <a:gd name="adj" fmla="val 50000"/>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ES" sz="1600" b="0" i="0" u="none" strike="noStrike" cap="none">
                <a:solidFill>
                  <a:schemeClr val="lt1"/>
                </a:solidFill>
                <a:latin typeface="Quattrocento Sans"/>
                <a:ea typeface="Quattrocento Sans"/>
                <a:cs typeface="Quattrocento Sans"/>
                <a:sym typeface="Quattrocento Sans"/>
              </a:rPr>
              <a:t>Sistema de Alarma</a:t>
            </a:r>
            <a:endParaRPr/>
          </a:p>
        </p:txBody>
      </p:sp>
      <p:sp>
        <p:nvSpPr>
          <p:cNvPr id="147" name="Google Shape;147;p5"/>
          <p:cNvSpPr/>
          <p:nvPr/>
        </p:nvSpPr>
        <p:spPr>
          <a:xfrm>
            <a:off x="3670300" y="3235325"/>
            <a:ext cx="939800" cy="939800"/>
          </a:xfrm>
          <a:prstGeom prst="ellipse">
            <a:avLst/>
          </a:prstGeom>
          <a:solidFill>
            <a:srgbClr val="CA7A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grpSp>
        <p:nvGrpSpPr>
          <p:cNvPr id="148" name="Google Shape;148;p5" descr="Iconos de gráfico de barras y gráfico de líneas."/>
          <p:cNvGrpSpPr/>
          <p:nvPr/>
        </p:nvGrpSpPr>
        <p:grpSpPr>
          <a:xfrm>
            <a:off x="4715661" y="1810536"/>
            <a:ext cx="347679" cy="347679"/>
            <a:chOff x="4319588" y="2492375"/>
            <a:chExt cx="287338" cy="287338"/>
          </a:xfrm>
        </p:grpSpPr>
        <p:sp>
          <p:nvSpPr>
            <p:cNvPr id="149" name="Google Shape;149;p5"/>
            <p:cNvSpPr/>
            <p:nvPr/>
          </p:nvSpPr>
          <p:spPr>
            <a:xfrm>
              <a:off x="4319588" y="2587625"/>
              <a:ext cx="287338" cy="192088"/>
            </a:xfrm>
            <a:custGeom>
              <a:avLst/>
              <a:gdLst/>
              <a:ahLst/>
              <a:cxnLst/>
              <a:rect l="l" t="t" r="r" b="b"/>
              <a:pathLst>
                <a:path w="904" h="602" extrusionOk="0">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p:txBody>
        </p:sp>
        <p:sp>
          <p:nvSpPr>
            <p:cNvPr id="150" name="Google Shape;150;p5"/>
            <p:cNvSpPr/>
            <p:nvPr/>
          </p:nvSpPr>
          <p:spPr>
            <a:xfrm>
              <a:off x="4338638" y="2492375"/>
              <a:ext cx="252413" cy="157163"/>
            </a:xfrm>
            <a:custGeom>
              <a:avLst/>
              <a:gdLst/>
              <a:ahLst/>
              <a:cxnLst/>
              <a:rect l="l" t="t" r="r" b="b"/>
              <a:pathLst>
                <a:path w="797" h="497" extrusionOk="0">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p:txBody>
        </p:sp>
      </p:grpSp>
      <p:sp>
        <p:nvSpPr>
          <p:cNvPr id="151" name="Google Shape;151;p5" descr="Icono de casilla de verificación. "/>
          <p:cNvSpPr/>
          <p:nvPr/>
        </p:nvSpPr>
        <p:spPr>
          <a:xfrm>
            <a:off x="7129621" y="1811496"/>
            <a:ext cx="345758" cy="345758"/>
          </a:xfrm>
          <a:custGeom>
            <a:avLst/>
            <a:gdLst/>
            <a:ahLst/>
            <a:cxnLst/>
            <a:rect l="l" t="t" r="r" b="b"/>
            <a:pathLst>
              <a:path w="719" h="719" extrusionOk="0">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p:txBody>
      </p:sp>
      <p:sp>
        <p:nvSpPr>
          <p:cNvPr id="152" name="Google Shape;152;p5" descr="Icono de gráfico "/>
          <p:cNvSpPr/>
          <p:nvPr/>
        </p:nvSpPr>
        <p:spPr>
          <a:xfrm>
            <a:off x="7801761" y="2997986"/>
            <a:ext cx="347678" cy="347680"/>
          </a:xfrm>
          <a:custGeom>
            <a:avLst/>
            <a:gdLst/>
            <a:ahLst/>
            <a:cxnLst/>
            <a:rect l="l" t="t" r="r" b="b"/>
            <a:pathLst>
              <a:path w="904" h="903" extrusionOk="0">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p:txBody>
      </p:sp>
      <p:grpSp>
        <p:nvGrpSpPr>
          <p:cNvPr id="153" name="Google Shape;153;p5" descr="Icono de ser humano y engranaje. "/>
          <p:cNvGrpSpPr/>
          <p:nvPr/>
        </p:nvGrpSpPr>
        <p:grpSpPr>
          <a:xfrm>
            <a:off x="7971659" y="4060068"/>
            <a:ext cx="338073" cy="339995"/>
            <a:chOff x="6450013" y="5349875"/>
            <a:chExt cx="279399" cy="280988"/>
          </a:xfrm>
        </p:grpSpPr>
        <p:sp>
          <p:nvSpPr>
            <p:cNvPr id="154" name="Google Shape;154;p5"/>
            <p:cNvSpPr/>
            <p:nvPr/>
          </p:nvSpPr>
          <p:spPr>
            <a:xfrm>
              <a:off x="6450013" y="5349875"/>
              <a:ext cx="182562" cy="238125"/>
            </a:xfrm>
            <a:custGeom>
              <a:avLst/>
              <a:gdLst/>
              <a:ahLst/>
              <a:cxnLst/>
              <a:rect l="l" t="t" r="r" b="b"/>
              <a:pathLst>
                <a:path w="459" h="602" extrusionOk="0">
                  <a:moveTo>
                    <a:pt x="352" y="577"/>
                  </a:moveTo>
                  <a:lnTo>
                    <a:pt x="380" y="560"/>
                  </a:lnTo>
                  <a:lnTo>
                    <a:pt x="379" y="550"/>
                  </a:lnTo>
                  <a:lnTo>
                    <a:pt x="379" y="540"/>
                  </a:lnTo>
                  <a:lnTo>
                    <a:pt x="379" y="530"/>
                  </a:lnTo>
                  <a:lnTo>
                    <a:pt x="380" y="519"/>
                  </a:lnTo>
                  <a:lnTo>
                    <a:pt x="352" y="503"/>
                  </a:lnTo>
                  <a:lnTo>
                    <a:pt x="348" y="499"/>
                  </a:lnTo>
                  <a:lnTo>
                    <a:pt x="345" y="495"/>
                  </a:lnTo>
                  <a:lnTo>
                    <a:pt x="345" y="490"/>
                  </a:lnTo>
                  <a:lnTo>
                    <a:pt x="346" y="486"/>
                  </a:lnTo>
                  <a:lnTo>
                    <a:pt x="397" y="400"/>
                  </a:lnTo>
                  <a:lnTo>
                    <a:pt x="399" y="397"/>
                  </a:lnTo>
                  <a:lnTo>
                    <a:pt x="403" y="395"/>
                  </a:lnTo>
                  <a:lnTo>
                    <a:pt x="408" y="395"/>
                  </a:lnTo>
                  <a:lnTo>
                    <a:pt x="413" y="396"/>
                  </a:lnTo>
                  <a:lnTo>
                    <a:pt x="441" y="413"/>
                  </a:lnTo>
                  <a:lnTo>
                    <a:pt x="450" y="406"/>
                  </a:lnTo>
                  <a:lnTo>
                    <a:pt x="459" y="401"/>
                  </a:lnTo>
                  <a:lnTo>
                    <a:pt x="424" y="388"/>
                  </a:lnTo>
                  <a:lnTo>
                    <a:pt x="412" y="384"/>
                  </a:lnTo>
                  <a:lnTo>
                    <a:pt x="400" y="379"/>
                  </a:lnTo>
                  <a:lnTo>
                    <a:pt x="389" y="375"/>
                  </a:lnTo>
                  <a:lnTo>
                    <a:pt x="376" y="370"/>
                  </a:lnTo>
                  <a:lnTo>
                    <a:pt x="368" y="368"/>
                  </a:lnTo>
                  <a:lnTo>
                    <a:pt x="361" y="364"/>
                  </a:lnTo>
                  <a:lnTo>
                    <a:pt x="361" y="307"/>
                  </a:lnTo>
                  <a:lnTo>
                    <a:pt x="366" y="302"/>
                  </a:lnTo>
                  <a:lnTo>
                    <a:pt x="372" y="297"/>
                  </a:lnTo>
                  <a:lnTo>
                    <a:pt x="379" y="288"/>
                  </a:lnTo>
                  <a:lnTo>
                    <a:pt x="385" y="279"/>
                  </a:lnTo>
                  <a:lnTo>
                    <a:pt x="391" y="266"/>
                  </a:lnTo>
                  <a:lnTo>
                    <a:pt x="397" y="252"/>
                  </a:lnTo>
                  <a:lnTo>
                    <a:pt x="400" y="235"/>
                  </a:lnTo>
                  <a:lnTo>
                    <a:pt x="402" y="216"/>
                  </a:lnTo>
                  <a:lnTo>
                    <a:pt x="406" y="214"/>
                  </a:lnTo>
                  <a:lnTo>
                    <a:pt x="409" y="211"/>
                  </a:lnTo>
                  <a:lnTo>
                    <a:pt x="412" y="207"/>
                  </a:lnTo>
                  <a:lnTo>
                    <a:pt x="415" y="202"/>
                  </a:lnTo>
                  <a:lnTo>
                    <a:pt x="417" y="197"/>
                  </a:lnTo>
                  <a:lnTo>
                    <a:pt x="418" y="191"/>
                  </a:lnTo>
                  <a:lnTo>
                    <a:pt x="420" y="183"/>
                  </a:lnTo>
                  <a:lnTo>
                    <a:pt x="420" y="175"/>
                  </a:lnTo>
                  <a:lnTo>
                    <a:pt x="420" y="164"/>
                  </a:lnTo>
                  <a:lnTo>
                    <a:pt x="416" y="152"/>
                  </a:lnTo>
                  <a:lnTo>
                    <a:pt x="412" y="144"/>
                  </a:lnTo>
                  <a:lnTo>
                    <a:pt x="406" y="137"/>
                  </a:lnTo>
                  <a:lnTo>
                    <a:pt x="412" y="121"/>
                  </a:lnTo>
                  <a:lnTo>
                    <a:pt x="417" y="101"/>
                  </a:lnTo>
                  <a:lnTo>
                    <a:pt x="420" y="89"/>
                  </a:lnTo>
                  <a:lnTo>
                    <a:pt x="420" y="78"/>
                  </a:lnTo>
                  <a:lnTo>
                    <a:pt x="420" y="65"/>
                  </a:lnTo>
                  <a:lnTo>
                    <a:pt x="417" y="53"/>
                  </a:lnTo>
                  <a:lnTo>
                    <a:pt x="415" y="45"/>
                  </a:lnTo>
                  <a:lnTo>
                    <a:pt x="412" y="39"/>
                  </a:lnTo>
                  <a:lnTo>
                    <a:pt x="407" y="34"/>
                  </a:lnTo>
                  <a:lnTo>
                    <a:pt x="403" y="27"/>
                  </a:lnTo>
                  <a:lnTo>
                    <a:pt x="397" y="24"/>
                  </a:lnTo>
                  <a:lnTo>
                    <a:pt x="390" y="18"/>
                  </a:lnTo>
                  <a:lnTo>
                    <a:pt x="382" y="15"/>
                  </a:lnTo>
                  <a:lnTo>
                    <a:pt x="376" y="12"/>
                  </a:lnTo>
                  <a:lnTo>
                    <a:pt x="359" y="7"/>
                  </a:lnTo>
                  <a:lnTo>
                    <a:pt x="341" y="3"/>
                  </a:lnTo>
                  <a:lnTo>
                    <a:pt x="325" y="0"/>
                  </a:lnTo>
                  <a:lnTo>
                    <a:pt x="307" y="0"/>
                  </a:lnTo>
                  <a:lnTo>
                    <a:pt x="291" y="0"/>
                  </a:lnTo>
                  <a:lnTo>
                    <a:pt x="276" y="2"/>
                  </a:lnTo>
                  <a:lnTo>
                    <a:pt x="260" y="6"/>
                  </a:lnTo>
                  <a:lnTo>
                    <a:pt x="245" y="9"/>
                  </a:lnTo>
                  <a:lnTo>
                    <a:pt x="231" y="16"/>
                  </a:lnTo>
                  <a:lnTo>
                    <a:pt x="218" y="22"/>
                  </a:lnTo>
                  <a:lnTo>
                    <a:pt x="213" y="27"/>
                  </a:lnTo>
                  <a:lnTo>
                    <a:pt x="209" y="31"/>
                  </a:lnTo>
                  <a:lnTo>
                    <a:pt x="204" y="36"/>
                  </a:lnTo>
                  <a:lnTo>
                    <a:pt x="201" y="42"/>
                  </a:lnTo>
                  <a:lnTo>
                    <a:pt x="194" y="42"/>
                  </a:lnTo>
                  <a:lnTo>
                    <a:pt x="187" y="43"/>
                  </a:lnTo>
                  <a:lnTo>
                    <a:pt x="181" y="44"/>
                  </a:lnTo>
                  <a:lnTo>
                    <a:pt x="176" y="45"/>
                  </a:lnTo>
                  <a:lnTo>
                    <a:pt x="168" y="51"/>
                  </a:lnTo>
                  <a:lnTo>
                    <a:pt x="163" y="56"/>
                  </a:lnTo>
                  <a:lnTo>
                    <a:pt x="158" y="65"/>
                  </a:lnTo>
                  <a:lnTo>
                    <a:pt x="155" y="75"/>
                  </a:lnTo>
                  <a:lnTo>
                    <a:pt x="155" y="87"/>
                  </a:lnTo>
                  <a:lnTo>
                    <a:pt x="155" y="98"/>
                  </a:lnTo>
                  <a:lnTo>
                    <a:pt x="159" y="120"/>
                  </a:lnTo>
                  <a:lnTo>
                    <a:pt x="164" y="138"/>
                  </a:lnTo>
                  <a:lnTo>
                    <a:pt x="164" y="139"/>
                  </a:lnTo>
                  <a:lnTo>
                    <a:pt x="164" y="139"/>
                  </a:lnTo>
                  <a:lnTo>
                    <a:pt x="159" y="144"/>
                  </a:lnTo>
                  <a:lnTo>
                    <a:pt x="154" y="151"/>
                  </a:lnTo>
                  <a:lnTo>
                    <a:pt x="151" y="156"/>
                  </a:lnTo>
                  <a:lnTo>
                    <a:pt x="150" y="162"/>
                  </a:lnTo>
                  <a:lnTo>
                    <a:pt x="149" y="170"/>
                  </a:lnTo>
                  <a:lnTo>
                    <a:pt x="149" y="176"/>
                  </a:lnTo>
                  <a:lnTo>
                    <a:pt x="149" y="184"/>
                  </a:lnTo>
                  <a:lnTo>
                    <a:pt x="150" y="191"/>
                  </a:lnTo>
                  <a:lnTo>
                    <a:pt x="151" y="196"/>
                  </a:lnTo>
                  <a:lnTo>
                    <a:pt x="154" y="201"/>
                  </a:lnTo>
                  <a:lnTo>
                    <a:pt x="156" y="206"/>
                  </a:lnTo>
                  <a:lnTo>
                    <a:pt x="159" y="210"/>
                  </a:lnTo>
                  <a:lnTo>
                    <a:pt x="163" y="214"/>
                  </a:lnTo>
                  <a:lnTo>
                    <a:pt x="167" y="216"/>
                  </a:lnTo>
                  <a:lnTo>
                    <a:pt x="168" y="227"/>
                  </a:lnTo>
                  <a:lnTo>
                    <a:pt x="169" y="237"/>
                  </a:lnTo>
                  <a:lnTo>
                    <a:pt x="172" y="246"/>
                  </a:lnTo>
                  <a:lnTo>
                    <a:pt x="174" y="255"/>
                  </a:lnTo>
                  <a:lnTo>
                    <a:pt x="179" y="271"/>
                  </a:lnTo>
                  <a:lnTo>
                    <a:pt x="187" y="286"/>
                  </a:lnTo>
                  <a:lnTo>
                    <a:pt x="195" y="297"/>
                  </a:lnTo>
                  <a:lnTo>
                    <a:pt x="203" y="306"/>
                  </a:lnTo>
                  <a:lnTo>
                    <a:pt x="210" y="314"/>
                  </a:lnTo>
                  <a:lnTo>
                    <a:pt x="215" y="319"/>
                  </a:lnTo>
                  <a:lnTo>
                    <a:pt x="215" y="364"/>
                  </a:lnTo>
                  <a:lnTo>
                    <a:pt x="201" y="369"/>
                  </a:lnTo>
                  <a:lnTo>
                    <a:pt x="186" y="375"/>
                  </a:lnTo>
                  <a:lnTo>
                    <a:pt x="171" y="381"/>
                  </a:lnTo>
                  <a:lnTo>
                    <a:pt x="155" y="384"/>
                  </a:lnTo>
                  <a:lnTo>
                    <a:pt x="129" y="393"/>
                  </a:lnTo>
                  <a:lnTo>
                    <a:pt x="106" y="401"/>
                  </a:lnTo>
                  <a:lnTo>
                    <a:pt x="83" y="410"/>
                  </a:lnTo>
                  <a:lnTo>
                    <a:pt x="64" y="419"/>
                  </a:lnTo>
                  <a:lnTo>
                    <a:pt x="46" y="428"/>
                  </a:lnTo>
                  <a:lnTo>
                    <a:pt x="32" y="438"/>
                  </a:lnTo>
                  <a:lnTo>
                    <a:pt x="27" y="444"/>
                  </a:lnTo>
                  <a:lnTo>
                    <a:pt x="22" y="449"/>
                  </a:lnTo>
                  <a:lnTo>
                    <a:pt x="18" y="455"/>
                  </a:lnTo>
                  <a:lnTo>
                    <a:pt x="15" y="460"/>
                  </a:lnTo>
                  <a:lnTo>
                    <a:pt x="10" y="479"/>
                  </a:lnTo>
                  <a:lnTo>
                    <a:pt x="6" y="499"/>
                  </a:lnTo>
                  <a:lnTo>
                    <a:pt x="4" y="521"/>
                  </a:lnTo>
                  <a:lnTo>
                    <a:pt x="2" y="540"/>
                  </a:lnTo>
                  <a:lnTo>
                    <a:pt x="0" y="573"/>
                  </a:lnTo>
                  <a:lnTo>
                    <a:pt x="0" y="589"/>
                  </a:lnTo>
                  <a:lnTo>
                    <a:pt x="1" y="594"/>
                  </a:lnTo>
                  <a:lnTo>
                    <a:pt x="4" y="598"/>
                  </a:lnTo>
                  <a:lnTo>
                    <a:pt x="7" y="600"/>
                  </a:lnTo>
                  <a:lnTo>
                    <a:pt x="11" y="602"/>
                  </a:lnTo>
                  <a:lnTo>
                    <a:pt x="350" y="602"/>
                  </a:lnTo>
                  <a:lnTo>
                    <a:pt x="346" y="594"/>
                  </a:lnTo>
                  <a:lnTo>
                    <a:pt x="345" y="589"/>
                  </a:lnTo>
                  <a:lnTo>
                    <a:pt x="345" y="585"/>
                  </a:lnTo>
                  <a:lnTo>
                    <a:pt x="348" y="581"/>
                  </a:lnTo>
                  <a:lnTo>
                    <a:pt x="352" y="577"/>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p:txBody>
        </p:sp>
        <p:sp>
          <p:nvSpPr>
            <p:cNvPr id="155" name="Google Shape;155;p5"/>
            <p:cNvSpPr/>
            <p:nvPr/>
          </p:nvSpPr>
          <p:spPr>
            <a:xfrm>
              <a:off x="6597650" y="5497513"/>
              <a:ext cx="131762" cy="133350"/>
            </a:xfrm>
            <a:custGeom>
              <a:avLst/>
              <a:gdLst/>
              <a:ahLst/>
              <a:cxnLst/>
              <a:rect l="l" t="t" r="r" b="b"/>
              <a:pathLst>
                <a:path w="332" h="336" extrusionOk="0">
                  <a:moveTo>
                    <a:pt x="166" y="245"/>
                  </a:moveTo>
                  <a:lnTo>
                    <a:pt x="158" y="244"/>
                  </a:lnTo>
                  <a:lnTo>
                    <a:pt x="151" y="243"/>
                  </a:lnTo>
                  <a:lnTo>
                    <a:pt x="143" y="241"/>
                  </a:lnTo>
                  <a:lnTo>
                    <a:pt x="135" y="239"/>
                  </a:lnTo>
                  <a:lnTo>
                    <a:pt x="129" y="235"/>
                  </a:lnTo>
                  <a:lnTo>
                    <a:pt x="122" y="231"/>
                  </a:lnTo>
                  <a:lnTo>
                    <a:pt x="116" y="227"/>
                  </a:lnTo>
                  <a:lnTo>
                    <a:pt x="111" y="222"/>
                  </a:lnTo>
                  <a:lnTo>
                    <a:pt x="106" y="217"/>
                  </a:lnTo>
                  <a:lnTo>
                    <a:pt x="101" y="211"/>
                  </a:lnTo>
                  <a:lnTo>
                    <a:pt x="97" y="204"/>
                  </a:lnTo>
                  <a:lnTo>
                    <a:pt x="94" y="198"/>
                  </a:lnTo>
                  <a:lnTo>
                    <a:pt x="92" y="190"/>
                  </a:lnTo>
                  <a:lnTo>
                    <a:pt x="89" y="182"/>
                  </a:lnTo>
                  <a:lnTo>
                    <a:pt x="88" y="175"/>
                  </a:lnTo>
                  <a:lnTo>
                    <a:pt x="88" y="167"/>
                  </a:lnTo>
                  <a:lnTo>
                    <a:pt x="88" y="159"/>
                  </a:lnTo>
                  <a:lnTo>
                    <a:pt x="89" y="151"/>
                  </a:lnTo>
                  <a:lnTo>
                    <a:pt x="92" y="144"/>
                  </a:lnTo>
                  <a:lnTo>
                    <a:pt x="94" y="136"/>
                  </a:lnTo>
                  <a:lnTo>
                    <a:pt x="97" y="130"/>
                  </a:lnTo>
                  <a:lnTo>
                    <a:pt x="101" y="123"/>
                  </a:lnTo>
                  <a:lnTo>
                    <a:pt x="106" y="117"/>
                  </a:lnTo>
                  <a:lnTo>
                    <a:pt x="111" y="112"/>
                  </a:lnTo>
                  <a:lnTo>
                    <a:pt x="116" y="106"/>
                  </a:lnTo>
                  <a:lnTo>
                    <a:pt x="122" y="103"/>
                  </a:lnTo>
                  <a:lnTo>
                    <a:pt x="129" y="99"/>
                  </a:lnTo>
                  <a:lnTo>
                    <a:pt x="135" y="95"/>
                  </a:lnTo>
                  <a:lnTo>
                    <a:pt x="143" y="92"/>
                  </a:lnTo>
                  <a:lnTo>
                    <a:pt x="151" y="90"/>
                  </a:lnTo>
                  <a:lnTo>
                    <a:pt x="158" y="90"/>
                  </a:lnTo>
                  <a:lnTo>
                    <a:pt x="166" y="89"/>
                  </a:lnTo>
                  <a:lnTo>
                    <a:pt x="174" y="90"/>
                  </a:lnTo>
                  <a:lnTo>
                    <a:pt x="181" y="90"/>
                  </a:lnTo>
                  <a:lnTo>
                    <a:pt x="189" y="92"/>
                  </a:lnTo>
                  <a:lnTo>
                    <a:pt x="196" y="95"/>
                  </a:lnTo>
                  <a:lnTo>
                    <a:pt x="203" y="99"/>
                  </a:lnTo>
                  <a:lnTo>
                    <a:pt x="210" y="103"/>
                  </a:lnTo>
                  <a:lnTo>
                    <a:pt x="215" y="106"/>
                  </a:lnTo>
                  <a:lnTo>
                    <a:pt x="221" y="112"/>
                  </a:lnTo>
                  <a:lnTo>
                    <a:pt x="226" y="117"/>
                  </a:lnTo>
                  <a:lnTo>
                    <a:pt x="230" y="123"/>
                  </a:lnTo>
                  <a:lnTo>
                    <a:pt x="234" y="130"/>
                  </a:lnTo>
                  <a:lnTo>
                    <a:pt x="238" y="136"/>
                  </a:lnTo>
                  <a:lnTo>
                    <a:pt x="241" y="144"/>
                  </a:lnTo>
                  <a:lnTo>
                    <a:pt x="242" y="151"/>
                  </a:lnTo>
                  <a:lnTo>
                    <a:pt x="243" y="159"/>
                  </a:lnTo>
                  <a:lnTo>
                    <a:pt x="244" y="167"/>
                  </a:lnTo>
                  <a:lnTo>
                    <a:pt x="243" y="175"/>
                  </a:lnTo>
                  <a:lnTo>
                    <a:pt x="242" y="182"/>
                  </a:lnTo>
                  <a:lnTo>
                    <a:pt x="241" y="190"/>
                  </a:lnTo>
                  <a:lnTo>
                    <a:pt x="238" y="198"/>
                  </a:lnTo>
                  <a:lnTo>
                    <a:pt x="234" y="204"/>
                  </a:lnTo>
                  <a:lnTo>
                    <a:pt x="230" y="211"/>
                  </a:lnTo>
                  <a:lnTo>
                    <a:pt x="226" y="217"/>
                  </a:lnTo>
                  <a:lnTo>
                    <a:pt x="221" y="222"/>
                  </a:lnTo>
                  <a:lnTo>
                    <a:pt x="215" y="227"/>
                  </a:lnTo>
                  <a:lnTo>
                    <a:pt x="210" y="231"/>
                  </a:lnTo>
                  <a:lnTo>
                    <a:pt x="203" y="235"/>
                  </a:lnTo>
                  <a:lnTo>
                    <a:pt x="196" y="239"/>
                  </a:lnTo>
                  <a:lnTo>
                    <a:pt x="189" y="241"/>
                  </a:lnTo>
                  <a:lnTo>
                    <a:pt x="181" y="243"/>
                  </a:lnTo>
                  <a:lnTo>
                    <a:pt x="174" y="244"/>
                  </a:lnTo>
                  <a:lnTo>
                    <a:pt x="166" y="245"/>
                  </a:lnTo>
                  <a:close/>
                  <a:moveTo>
                    <a:pt x="306" y="204"/>
                  </a:moveTo>
                  <a:lnTo>
                    <a:pt x="302" y="202"/>
                  </a:lnTo>
                  <a:lnTo>
                    <a:pt x="301" y="199"/>
                  </a:lnTo>
                  <a:lnTo>
                    <a:pt x="300" y="195"/>
                  </a:lnTo>
                  <a:lnTo>
                    <a:pt x="300" y="191"/>
                  </a:lnTo>
                  <a:lnTo>
                    <a:pt x="302" y="180"/>
                  </a:lnTo>
                  <a:lnTo>
                    <a:pt x="302" y="167"/>
                  </a:lnTo>
                  <a:lnTo>
                    <a:pt x="302" y="154"/>
                  </a:lnTo>
                  <a:lnTo>
                    <a:pt x="300" y="142"/>
                  </a:lnTo>
                  <a:lnTo>
                    <a:pt x="300" y="139"/>
                  </a:lnTo>
                  <a:lnTo>
                    <a:pt x="301" y="135"/>
                  </a:lnTo>
                  <a:lnTo>
                    <a:pt x="302" y="132"/>
                  </a:lnTo>
                  <a:lnTo>
                    <a:pt x="306" y="130"/>
                  </a:lnTo>
                  <a:lnTo>
                    <a:pt x="332" y="114"/>
                  </a:lnTo>
                  <a:lnTo>
                    <a:pt x="293" y="50"/>
                  </a:lnTo>
                  <a:lnTo>
                    <a:pt x="269" y="64"/>
                  </a:lnTo>
                  <a:lnTo>
                    <a:pt x="265" y="65"/>
                  </a:lnTo>
                  <a:lnTo>
                    <a:pt x="261" y="65"/>
                  </a:lnTo>
                  <a:lnTo>
                    <a:pt x="257" y="65"/>
                  </a:lnTo>
                  <a:lnTo>
                    <a:pt x="255" y="63"/>
                  </a:lnTo>
                  <a:lnTo>
                    <a:pt x="251" y="59"/>
                  </a:lnTo>
                  <a:lnTo>
                    <a:pt x="242" y="53"/>
                  </a:lnTo>
                  <a:lnTo>
                    <a:pt x="233" y="45"/>
                  </a:lnTo>
                  <a:lnTo>
                    <a:pt x="224" y="40"/>
                  </a:lnTo>
                  <a:lnTo>
                    <a:pt x="215" y="35"/>
                  </a:lnTo>
                  <a:lnTo>
                    <a:pt x="211" y="33"/>
                  </a:lnTo>
                  <a:lnTo>
                    <a:pt x="208" y="31"/>
                  </a:lnTo>
                  <a:lnTo>
                    <a:pt x="207" y="27"/>
                  </a:lnTo>
                  <a:lnTo>
                    <a:pt x="207" y="24"/>
                  </a:lnTo>
                  <a:lnTo>
                    <a:pt x="207" y="0"/>
                  </a:lnTo>
                  <a:lnTo>
                    <a:pt x="135" y="0"/>
                  </a:lnTo>
                  <a:lnTo>
                    <a:pt x="135" y="24"/>
                  </a:lnTo>
                  <a:lnTo>
                    <a:pt x="134" y="27"/>
                  </a:lnTo>
                  <a:lnTo>
                    <a:pt x="133" y="31"/>
                  </a:lnTo>
                  <a:lnTo>
                    <a:pt x="130" y="33"/>
                  </a:lnTo>
                  <a:lnTo>
                    <a:pt x="126" y="35"/>
                  </a:lnTo>
                  <a:lnTo>
                    <a:pt x="113" y="41"/>
                  </a:lnTo>
                  <a:lnTo>
                    <a:pt x="101" y="47"/>
                  </a:lnTo>
                  <a:lnTo>
                    <a:pt x="88" y="55"/>
                  </a:lnTo>
                  <a:lnTo>
                    <a:pt x="77" y="63"/>
                  </a:lnTo>
                  <a:lnTo>
                    <a:pt x="75" y="65"/>
                  </a:lnTo>
                  <a:lnTo>
                    <a:pt x="71" y="65"/>
                  </a:lnTo>
                  <a:lnTo>
                    <a:pt x="67" y="65"/>
                  </a:lnTo>
                  <a:lnTo>
                    <a:pt x="63" y="64"/>
                  </a:lnTo>
                  <a:lnTo>
                    <a:pt x="38" y="50"/>
                  </a:lnTo>
                  <a:lnTo>
                    <a:pt x="0" y="114"/>
                  </a:lnTo>
                  <a:lnTo>
                    <a:pt x="26" y="130"/>
                  </a:lnTo>
                  <a:lnTo>
                    <a:pt x="29" y="132"/>
                  </a:lnTo>
                  <a:lnTo>
                    <a:pt x="31" y="135"/>
                  </a:lnTo>
                  <a:lnTo>
                    <a:pt x="33" y="139"/>
                  </a:lnTo>
                  <a:lnTo>
                    <a:pt x="31" y="142"/>
                  </a:lnTo>
                  <a:lnTo>
                    <a:pt x="30" y="154"/>
                  </a:lnTo>
                  <a:lnTo>
                    <a:pt x="30" y="167"/>
                  </a:lnTo>
                  <a:lnTo>
                    <a:pt x="30" y="178"/>
                  </a:lnTo>
                  <a:lnTo>
                    <a:pt x="31" y="191"/>
                  </a:lnTo>
                  <a:lnTo>
                    <a:pt x="33" y="195"/>
                  </a:lnTo>
                  <a:lnTo>
                    <a:pt x="31" y="199"/>
                  </a:lnTo>
                  <a:lnTo>
                    <a:pt x="29" y="202"/>
                  </a:lnTo>
                  <a:lnTo>
                    <a:pt x="26" y="204"/>
                  </a:lnTo>
                  <a:lnTo>
                    <a:pt x="0" y="220"/>
                  </a:lnTo>
                  <a:lnTo>
                    <a:pt x="38" y="284"/>
                  </a:lnTo>
                  <a:lnTo>
                    <a:pt x="63" y="270"/>
                  </a:lnTo>
                  <a:lnTo>
                    <a:pt x="67" y="268"/>
                  </a:lnTo>
                  <a:lnTo>
                    <a:pt x="71" y="267"/>
                  </a:lnTo>
                  <a:lnTo>
                    <a:pt x="75" y="268"/>
                  </a:lnTo>
                  <a:lnTo>
                    <a:pt x="77" y="271"/>
                  </a:lnTo>
                  <a:lnTo>
                    <a:pt x="89" y="279"/>
                  </a:lnTo>
                  <a:lnTo>
                    <a:pt x="106" y="286"/>
                  </a:lnTo>
                  <a:lnTo>
                    <a:pt x="124" y="295"/>
                  </a:lnTo>
                  <a:lnTo>
                    <a:pt x="139" y="300"/>
                  </a:lnTo>
                  <a:lnTo>
                    <a:pt x="142" y="303"/>
                  </a:lnTo>
                  <a:lnTo>
                    <a:pt x="144" y="306"/>
                  </a:lnTo>
                  <a:lnTo>
                    <a:pt x="146" y="308"/>
                  </a:lnTo>
                  <a:lnTo>
                    <a:pt x="147" y="312"/>
                  </a:lnTo>
                  <a:lnTo>
                    <a:pt x="147" y="336"/>
                  </a:lnTo>
                  <a:lnTo>
                    <a:pt x="207" y="336"/>
                  </a:lnTo>
                  <a:lnTo>
                    <a:pt x="207" y="312"/>
                  </a:lnTo>
                  <a:lnTo>
                    <a:pt x="207" y="308"/>
                  </a:lnTo>
                  <a:lnTo>
                    <a:pt x="208" y="306"/>
                  </a:lnTo>
                  <a:lnTo>
                    <a:pt x="211" y="303"/>
                  </a:lnTo>
                  <a:lnTo>
                    <a:pt x="215" y="300"/>
                  </a:lnTo>
                  <a:lnTo>
                    <a:pt x="223" y="297"/>
                  </a:lnTo>
                  <a:lnTo>
                    <a:pt x="230" y="291"/>
                  </a:lnTo>
                  <a:lnTo>
                    <a:pt x="238" y="285"/>
                  </a:lnTo>
                  <a:lnTo>
                    <a:pt x="246" y="279"/>
                  </a:lnTo>
                  <a:lnTo>
                    <a:pt x="250" y="275"/>
                  </a:lnTo>
                  <a:lnTo>
                    <a:pt x="255" y="271"/>
                  </a:lnTo>
                  <a:lnTo>
                    <a:pt x="257" y="268"/>
                  </a:lnTo>
                  <a:lnTo>
                    <a:pt x="261" y="267"/>
                  </a:lnTo>
                  <a:lnTo>
                    <a:pt x="265" y="268"/>
                  </a:lnTo>
                  <a:lnTo>
                    <a:pt x="269" y="270"/>
                  </a:lnTo>
                  <a:lnTo>
                    <a:pt x="295" y="284"/>
                  </a:lnTo>
                  <a:lnTo>
                    <a:pt x="332" y="220"/>
                  </a:lnTo>
                  <a:lnTo>
                    <a:pt x="306" y="20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p:txBody>
        </p:sp>
      </p:grpSp>
      <p:grpSp>
        <p:nvGrpSpPr>
          <p:cNvPr id="156" name="Google Shape;156;p5" descr="Icono de engranajes. "/>
          <p:cNvGrpSpPr/>
          <p:nvPr/>
        </p:nvGrpSpPr>
        <p:grpSpPr>
          <a:xfrm>
            <a:off x="4717582" y="5353558"/>
            <a:ext cx="343837" cy="343837"/>
            <a:chOff x="7613650" y="1387475"/>
            <a:chExt cx="284163" cy="284163"/>
          </a:xfrm>
        </p:grpSpPr>
        <p:sp>
          <p:nvSpPr>
            <p:cNvPr id="157" name="Google Shape;157;p5"/>
            <p:cNvSpPr/>
            <p:nvPr/>
          </p:nvSpPr>
          <p:spPr>
            <a:xfrm>
              <a:off x="7613650" y="1471613"/>
              <a:ext cx="200025" cy="200025"/>
            </a:xfrm>
            <a:custGeom>
              <a:avLst/>
              <a:gdLst/>
              <a:ahLst/>
              <a:cxnLst/>
              <a:rect l="l" t="t" r="r" b="b"/>
              <a:pathLst>
                <a:path w="629" h="629" extrusionOk="0">
                  <a:moveTo>
                    <a:pt x="314" y="441"/>
                  </a:moveTo>
                  <a:lnTo>
                    <a:pt x="301" y="440"/>
                  </a:lnTo>
                  <a:lnTo>
                    <a:pt x="288" y="439"/>
                  </a:lnTo>
                  <a:lnTo>
                    <a:pt x="276" y="436"/>
                  </a:lnTo>
                  <a:lnTo>
                    <a:pt x="264" y="430"/>
                  </a:lnTo>
                  <a:lnTo>
                    <a:pt x="253" y="425"/>
                  </a:lnTo>
                  <a:lnTo>
                    <a:pt x="242" y="418"/>
                  </a:lnTo>
                  <a:lnTo>
                    <a:pt x="233" y="411"/>
                  </a:lnTo>
                  <a:lnTo>
                    <a:pt x="223" y="404"/>
                  </a:lnTo>
                  <a:lnTo>
                    <a:pt x="216" y="394"/>
                  </a:lnTo>
                  <a:lnTo>
                    <a:pt x="208" y="384"/>
                  </a:lnTo>
                  <a:lnTo>
                    <a:pt x="202" y="374"/>
                  </a:lnTo>
                  <a:lnTo>
                    <a:pt x="196" y="362"/>
                  </a:lnTo>
                  <a:lnTo>
                    <a:pt x="192" y="350"/>
                  </a:lnTo>
                  <a:lnTo>
                    <a:pt x="189" y="338"/>
                  </a:lnTo>
                  <a:lnTo>
                    <a:pt x="187" y="325"/>
                  </a:lnTo>
                  <a:lnTo>
                    <a:pt x="186" y="313"/>
                  </a:lnTo>
                  <a:lnTo>
                    <a:pt x="187" y="300"/>
                  </a:lnTo>
                  <a:lnTo>
                    <a:pt x="189" y="287"/>
                  </a:lnTo>
                  <a:lnTo>
                    <a:pt x="192" y="274"/>
                  </a:lnTo>
                  <a:lnTo>
                    <a:pt x="196" y="262"/>
                  </a:lnTo>
                  <a:lnTo>
                    <a:pt x="202" y="252"/>
                  </a:lnTo>
                  <a:lnTo>
                    <a:pt x="208" y="241"/>
                  </a:lnTo>
                  <a:lnTo>
                    <a:pt x="216" y="231"/>
                  </a:lnTo>
                  <a:lnTo>
                    <a:pt x="223" y="222"/>
                  </a:lnTo>
                  <a:lnTo>
                    <a:pt x="233" y="213"/>
                  </a:lnTo>
                  <a:lnTo>
                    <a:pt x="242" y="206"/>
                  </a:lnTo>
                  <a:lnTo>
                    <a:pt x="253" y="199"/>
                  </a:lnTo>
                  <a:lnTo>
                    <a:pt x="264" y="194"/>
                  </a:lnTo>
                  <a:lnTo>
                    <a:pt x="276" y="190"/>
                  </a:lnTo>
                  <a:lnTo>
                    <a:pt x="288" y="186"/>
                  </a:lnTo>
                  <a:lnTo>
                    <a:pt x="301" y="184"/>
                  </a:lnTo>
                  <a:lnTo>
                    <a:pt x="314" y="184"/>
                  </a:lnTo>
                  <a:lnTo>
                    <a:pt x="327" y="184"/>
                  </a:lnTo>
                  <a:lnTo>
                    <a:pt x="340" y="186"/>
                  </a:lnTo>
                  <a:lnTo>
                    <a:pt x="352" y="190"/>
                  </a:lnTo>
                  <a:lnTo>
                    <a:pt x="363" y="194"/>
                  </a:lnTo>
                  <a:lnTo>
                    <a:pt x="375" y="199"/>
                  </a:lnTo>
                  <a:lnTo>
                    <a:pt x="386" y="206"/>
                  </a:lnTo>
                  <a:lnTo>
                    <a:pt x="395" y="213"/>
                  </a:lnTo>
                  <a:lnTo>
                    <a:pt x="404" y="222"/>
                  </a:lnTo>
                  <a:lnTo>
                    <a:pt x="413" y="231"/>
                  </a:lnTo>
                  <a:lnTo>
                    <a:pt x="420" y="241"/>
                  </a:lnTo>
                  <a:lnTo>
                    <a:pt x="426" y="252"/>
                  </a:lnTo>
                  <a:lnTo>
                    <a:pt x="432" y="262"/>
                  </a:lnTo>
                  <a:lnTo>
                    <a:pt x="436" y="274"/>
                  </a:lnTo>
                  <a:lnTo>
                    <a:pt x="439" y="287"/>
                  </a:lnTo>
                  <a:lnTo>
                    <a:pt x="441" y="300"/>
                  </a:lnTo>
                  <a:lnTo>
                    <a:pt x="443" y="313"/>
                  </a:lnTo>
                  <a:lnTo>
                    <a:pt x="441" y="325"/>
                  </a:lnTo>
                  <a:lnTo>
                    <a:pt x="439" y="338"/>
                  </a:lnTo>
                  <a:lnTo>
                    <a:pt x="436" y="350"/>
                  </a:lnTo>
                  <a:lnTo>
                    <a:pt x="432" y="362"/>
                  </a:lnTo>
                  <a:lnTo>
                    <a:pt x="426" y="374"/>
                  </a:lnTo>
                  <a:lnTo>
                    <a:pt x="420" y="384"/>
                  </a:lnTo>
                  <a:lnTo>
                    <a:pt x="413" y="394"/>
                  </a:lnTo>
                  <a:lnTo>
                    <a:pt x="404" y="404"/>
                  </a:lnTo>
                  <a:lnTo>
                    <a:pt x="395" y="411"/>
                  </a:lnTo>
                  <a:lnTo>
                    <a:pt x="386" y="418"/>
                  </a:lnTo>
                  <a:lnTo>
                    <a:pt x="375" y="425"/>
                  </a:lnTo>
                  <a:lnTo>
                    <a:pt x="363" y="430"/>
                  </a:lnTo>
                  <a:lnTo>
                    <a:pt x="352" y="436"/>
                  </a:lnTo>
                  <a:lnTo>
                    <a:pt x="340" y="439"/>
                  </a:lnTo>
                  <a:lnTo>
                    <a:pt x="327" y="440"/>
                  </a:lnTo>
                  <a:lnTo>
                    <a:pt x="314" y="441"/>
                  </a:lnTo>
                  <a:close/>
                  <a:moveTo>
                    <a:pt x="621" y="385"/>
                  </a:moveTo>
                  <a:lnTo>
                    <a:pt x="571" y="355"/>
                  </a:lnTo>
                  <a:lnTo>
                    <a:pt x="572" y="346"/>
                  </a:lnTo>
                  <a:lnTo>
                    <a:pt x="573" y="335"/>
                  </a:lnTo>
                  <a:lnTo>
                    <a:pt x="574" y="323"/>
                  </a:lnTo>
                  <a:lnTo>
                    <a:pt x="574" y="313"/>
                  </a:lnTo>
                  <a:lnTo>
                    <a:pt x="574" y="302"/>
                  </a:lnTo>
                  <a:lnTo>
                    <a:pt x="573" y="291"/>
                  </a:lnTo>
                  <a:lnTo>
                    <a:pt x="572" y="280"/>
                  </a:lnTo>
                  <a:lnTo>
                    <a:pt x="570" y="269"/>
                  </a:lnTo>
                  <a:lnTo>
                    <a:pt x="620" y="241"/>
                  </a:lnTo>
                  <a:lnTo>
                    <a:pt x="623" y="239"/>
                  </a:lnTo>
                  <a:lnTo>
                    <a:pt x="624" y="237"/>
                  </a:lnTo>
                  <a:lnTo>
                    <a:pt x="627" y="234"/>
                  </a:lnTo>
                  <a:lnTo>
                    <a:pt x="628" y="231"/>
                  </a:lnTo>
                  <a:lnTo>
                    <a:pt x="628" y="228"/>
                  </a:lnTo>
                  <a:lnTo>
                    <a:pt x="628" y="226"/>
                  </a:lnTo>
                  <a:lnTo>
                    <a:pt x="628" y="223"/>
                  </a:lnTo>
                  <a:lnTo>
                    <a:pt x="625" y="219"/>
                  </a:lnTo>
                  <a:lnTo>
                    <a:pt x="551" y="90"/>
                  </a:lnTo>
                  <a:lnTo>
                    <a:pt x="548" y="87"/>
                  </a:lnTo>
                  <a:lnTo>
                    <a:pt x="546" y="85"/>
                  </a:lnTo>
                  <a:lnTo>
                    <a:pt x="544" y="84"/>
                  </a:lnTo>
                  <a:lnTo>
                    <a:pt x="541" y="83"/>
                  </a:lnTo>
                  <a:lnTo>
                    <a:pt x="539" y="81"/>
                  </a:lnTo>
                  <a:lnTo>
                    <a:pt x="536" y="81"/>
                  </a:lnTo>
                  <a:lnTo>
                    <a:pt x="532" y="83"/>
                  </a:lnTo>
                  <a:lnTo>
                    <a:pt x="530" y="84"/>
                  </a:lnTo>
                  <a:lnTo>
                    <a:pt x="481" y="113"/>
                  </a:lnTo>
                  <a:lnTo>
                    <a:pt x="465" y="99"/>
                  </a:lnTo>
                  <a:lnTo>
                    <a:pt x="447" y="88"/>
                  </a:lnTo>
                  <a:lnTo>
                    <a:pt x="438" y="83"/>
                  </a:lnTo>
                  <a:lnTo>
                    <a:pt x="429" y="77"/>
                  </a:lnTo>
                  <a:lnTo>
                    <a:pt x="418" y="73"/>
                  </a:lnTo>
                  <a:lnTo>
                    <a:pt x="407" y="69"/>
                  </a:lnTo>
                  <a:lnTo>
                    <a:pt x="407" y="15"/>
                  </a:lnTo>
                  <a:lnTo>
                    <a:pt x="407" y="12"/>
                  </a:lnTo>
                  <a:lnTo>
                    <a:pt x="406" y="10"/>
                  </a:lnTo>
                  <a:lnTo>
                    <a:pt x="404" y="7"/>
                  </a:lnTo>
                  <a:lnTo>
                    <a:pt x="403" y="4"/>
                  </a:lnTo>
                  <a:lnTo>
                    <a:pt x="401" y="2"/>
                  </a:lnTo>
                  <a:lnTo>
                    <a:pt x="398" y="1"/>
                  </a:lnTo>
                  <a:lnTo>
                    <a:pt x="395" y="0"/>
                  </a:lnTo>
                  <a:lnTo>
                    <a:pt x="392" y="0"/>
                  </a:lnTo>
                  <a:lnTo>
                    <a:pt x="241" y="0"/>
                  </a:lnTo>
                  <a:lnTo>
                    <a:pt x="238" y="0"/>
                  </a:lnTo>
                  <a:lnTo>
                    <a:pt x="235" y="1"/>
                  </a:lnTo>
                  <a:lnTo>
                    <a:pt x="233" y="2"/>
                  </a:lnTo>
                  <a:lnTo>
                    <a:pt x="231" y="4"/>
                  </a:lnTo>
                  <a:lnTo>
                    <a:pt x="229" y="7"/>
                  </a:lnTo>
                  <a:lnTo>
                    <a:pt x="227" y="10"/>
                  </a:lnTo>
                  <a:lnTo>
                    <a:pt x="226" y="12"/>
                  </a:lnTo>
                  <a:lnTo>
                    <a:pt x="226" y="15"/>
                  </a:lnTo>
                  <a:lnTo>
                    <a:pt x="226" y="69"/>
                  </a:lnTo>
                  <a:lnTo>
                    <a:pt x="216" y="72"/>
                  </a:lnTo>
                  <a:lnTo>
                    <a:pt x="206" y="76"/>
                  </a:lnTo>
                  <a:lnTo>
                    <a:pt x="196" y="80"/>
                  </a:lnTo>
                  <a:lnTo>
                    <a:pt x="187" y="86"/>
                  </a:lnTo>
                  <a:lnTo>
                    <a:pt x="177" y="91"/>
                  </a:lnTo>
                  <a:lnTo>
                    <a:pt x="168" y="98"/>
                  </a:lnTo>
                  <a:lnTo>
                    <a:pt x="159" y="105"/>
                  </a:lnTo>
                  <a:lnTo>
                    <a:pt x="149" y="113"/>
                  </a:lnTo>
                  <a:lnTo>
                    <a:pt x="98" y="84"/>
                  </a:lnTo>
                  <a:lnTo>
                    <a:pt x="96" y="83"/>
                  </a:lnTo>
                  <a:lnTo>
                    <a:pt x="93" y="81"/>
                  </a:lnTo>
                  <a:lnTo>
                    <a:pt x="90" y="81"/>
                  </a:lnTo>
                  <a:lnTo>
                    <a:pt x="87" y="83"/>
                  </a:lnTo>
                  <a:lnTo>
                    <a:pt x="84" y="84"/>
                  </a:lnTo>
                  <a:lnTo>
                    <a:pt x="82" y="85"/>
                  </a:lnTo>
                  <a:lnTo>
                    <a:pt x="80" y="87"/>
                  </a:lnTo>
                  <a:lnTo>
                    <a:pt x="78" y="90"/>
                  </a:lnTo>
                  <a:lnTo>
                    <a:pt x="3" y="219"/>
                  </a:lnTo>
                  <a:lnTo>
                    <a:pt x="1" y="222"/>
                  </a:lnTo>
                  <a:lnTo>
                    <a:pt x="1" y="225"/>
                  </a:lnTo>
                  <a:lnTo>
                    <a:pt x="1" y="228"/>
                  </a:lnTo>
                  <a:lnTo>
                    <a:pt x="1" y="230"/>
                  </a:lnTo>
                  <a:lnTo>
                    <a:pt x="4" y="236"/>
                  </a:lnTo>
                  <a:lnTo>
                    <a:pt x="8" y="241"/>
                  </a:lnTo>
                  <a:lnTo>
                    <a:pt x="57" y="269"/>
                  </a:lnTo>
                  <a:lnTo>
                    <a:pt x="56" y="280"/>
                  </a:lnTo>
                  <a:lnTo>
                    <a:pt x="55" y="291"/>
                  </a:lnTo>
                  <a:lnTo>
                    <a:pt x="54" y="302"/>
                  </a:lnTo>
                  <a:lnTo>
                    <a:pt x="54" y="313"/>
                  </a:lnTo>
                  <a:lnTo>
                    <a:pt x="54" y="323"/>
                  </a:lnTo>
                  <a:lnTo>
                    <a:pt x="55" y="335"/>
                  </a:lnTo>
                  <a:lnTo>
                    <a:pt x="56" y="346"/>
                  </a:lnTo>
                  <a:lnTo>
                    <a:pt x="57" y="355"/>
                  </a:lnTo>
                  <a:lnTo>
                    <a:pt x="7" y="385"/>
                  </a:lnTo>
                  <a:lnTo>
                    <a:pt x="5" y="387"/>
                  </a:lnTo>
                  <a:lnTo>
                    <a:pt x="3" y="389"/>
                  </a:lnTo>
                  <a:lnTo>
                    <a:pt x="2" y="391"/>
                  </a:lnTo>
                  <a:lnTo>
                    <a:pt x="1" y="394"/>
                  </a:lnTo>
                  <a:lnTo>
                    <a:pt x="0" y="396"/>
                  </a:lnTo>
                  <a:lnTo>
                    <a:pt x="1" y="399"/>
                  </a:lnTo>
                  <a:lnTo>
                    <a:pt x="1" y="402"/>
                  </a:lnTo>
                  <a:lnTo>
                    <a:pt x="2" y="405"/>
                  </a:lnTo>
                  <a:lnTo>
                    <a:pt x="78" y="536"/>
                  </a:lnTo>
                  <a:lnTo>
                    <a:pt x="81" y="540"/>
                  </a:lnTo>
                  <a:lnTo>
                    <a:pt x="86" y="543"/>
                  </a:lnTo>
                  <a:lnTo>
                    <a:pt x="89" y="544"/>
                  </a:lnTo>
                  <a:lnTo>
                    <a:pt x="93" y="544"/>
                  </a:lnTo>
                  <a:lnTo>
                    <a:pt x="95" y="543"/>
                  </a:lnTo>
                  <a:lnTo>
                    <a:pt x="98" y="542"/>
                  </a:lnTo>
                  <a:lnTo>
                    <a:pt x="149" y="513"/>
                  </a:lnTo>
                  <a:lnTo>
                    <a:pt x="159" y="520"/>
                  </a:lnTo>
                  <a:lnTo>
                    <a:pt x="168" y="527"/>
                  </a:lnTo>
                  <a:lnTo>
                    <a:pt x="177" y="533"/>
                  </a:lnTo>
                  <a:lnTo>
                    <a:pt x="187" y="539"/>
                  </a:lnTo>
                  <a:lnTo>
                    <a:pt x="196" y="544"/>
                  </a:lnTo>
                  <a:lnTo>
                    <a:pt x="206" y="549"/>
                  </a:lnTo>
                  <a:lnTo>
                    <a:pt x="216" y="552"/>
                  </a:lnTo>
                  <a:lnTo>
                    <a:pt x="226" y="556"/>
                  </a:lnTo>
                  <a:lnTo>
                    <a:pt x="226" y="614"/>
                  </a:lnTo>
                  <a:lnTo>
                    <a:pt x="226" y="617"/>
                  </a:lnTo>
                  <a:lnTo>
                    <a:pt x="227" y="620"/>
                  </a:lnTo>
                  <a:lnTo>
                    <a:pt x="229" y="623"/>
                  </a:lnTo>
                  <a:lnTo>
                    <a:pt x="231" y="625"/>
                  </a:lnTo>
                  <a:lnTo>
                    <a:pt x="233" y="627"/>
                  </a:lnTo>
                  <a:lnTo>
                    <a:pt x="235" y="628"/>
                  </a:lnTo>
                  <a:lnTo>
                    <a:pt x="238" y="629"/>
                  </a:lnTo>
                  <a:lnTo>
                    <a:pt x="241" y="629"/>
                  </a:lnTo>
                  <a:lnTo>
                    <a:pt x="392" y="629"/>
                  </a:lnTo>
                  <a:lnTo>
                    <a:pt x="395" y="629"/>
                  </a:lnTo>
                  <a:lnTo>
                    <a:pt x="398" y="628"/>
                  </a:lnTo>
                  <a:lnTo>
                    <a:pt x="401" y="627"/>
                  </a:lnTo>
                  <a:lnTo>
                    <a:pt x="403" y="625"/>
                  </a:lnTo>
                  <a:lnTo>
                    <a:pt x="404" y="623"/>
                  </a:lnTo>
                  <a:lnTo>
                    <a:pt x="406" y="620"/>
                  </a:lnTo>
                  <a:lnTo>
                    <a:pt x="407" y="617"/>
                  </a:lnTo>
                  <a:lnTo>
                    <a:pt x="407" y="614"/>
                  </a:lnTo>
                  <a:lnTo>
                    <a:pt x="407" y="556"/>
                  </a:lnTo>
                  <a:lnTo>
                    <a:pt x="418" y="552"/>
                  </a:lnTo>
                  <a:lnTo>
                    <a:pt x="429" y="548"/>
                  </a:lnTo>
                  <a:lnTo>
                    <a:pt x="438" y="544"/>
                  </a:lnTo>
                  <a:lnTo>
                    <a:pt x="447" y="538"/>
                  </a:lnTo>
                  <a:lnTo>
                    <a:pt x="465" y="527"/>
                  </a:lnTo>
                  <a:lnTo>
                    <a:pt x="481" y="513"/>
                  </a:lnTo>
                  <a:lnTo>
                    <a:pt x="530" y="542"/>
                  </a:lnTo>
                  <a:lnTo>
                    <a:pt x="533" y="543"/>
                  </a:lnTo>
                  <a:lnTo>
                    <a:pt x="537" y="544"/>
                  </a:lnTo>
                  <a:lnTo>
                    <a:pt x="539" y="544"/>
                  </a:lnTo>
                  <a:lnTo>
                    <a:pt x="542" y="543"/>
                  </a:lnTo>
                  <a:lnTo>
                    <a:pt x="545" y="543"/>
                  </a:lnTo>
                  <a:lnTo>
                    <a:pt x="547" y="540"/>
                  </a:lnTo>
                  <a:lnTo>
                    <a:pt x="550" y="539"/>
                  </a:lnTo>
                  <a:lnTo>
                    <a:pt x="552" y="536"/>
                  </a:lnTo>
                  <a:lnTo>
                    <a:pt x="627" y="405"/>
                  </a:lnTo>
                  <a:lnTo>
                    <a:pt x="628" y="402"/>
                  </a:lnTo>
                  <a:lnTo>
                    <a:pt x="628" y="399"/>
                  </a:lnTo>
                  <a:lnTo>
                    <a:pt x="629" y="396"/>
                  </a:lnTo>
                  <a:lnTo>
                    <a:pt x="628" y="394"/>
                  </a:lnTo>
                  <a:lnTo>
                    <a:pt x="627" y="391"/>
                  </a:lnTo>
                  <a:lnTo>
                    <a:pt x="625" y="389"/>
                  </a:lnTo>
                  <a:lnTo>
                    <a:pt x="623" y="387"/>
                  </a:lnTo>
                  <a:lnTo>
                    <a:pt x="621" y="385"/>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p:txBody>
        </p:sp>
        <p:sp>
          <p:nvSpPr>
            <p:cNvPr id="158" name="Google Shape;158;p5"/>
            <p:cNvSpPr/>
            <p:nvPr/>
          </p:nvSpPr>
          <p:spPr>
            <a:xfrm>
              <a:off x="7781925" y="1387475"/>
              <a:ext cx="115888" cy="117475"/>
            </a:xfrm>
            <a:custGeom>
              <a:avLst/>
              <a:gdLst/>
              <a:ahLst/>
              <a:cxnLst/>
              <a:rect l="l" t="t" r="r" b="b"/>
              <a:pathLst>
                <a:path w="362" h="369" extrusionOk="0">
                  <a:moveTo>
                    <a:pt x="181" y="255"/>
                  </a:moveTo>
                  <a:lnTo>
                    <a:pt x="174" y="254"/>
                  </a:lnTo>
                  <a:lnTo>
                    <a:pt x="166" y="253"/>
                  </a:lnTo>
                  <a:lnTo>
                    <a:pt x="160" y="252"/>
                  </a:lnTo>
                  <a:lnTo>
                    <a:pt x="153" y="249"/>
                  </a:lnTo>
                  <a:lnTo>
                    <a:pt x="147" y="247"/>
                  </a:lnTo>
                  <a:lnTo>
                    <a:pt x="141" y="243"/>
                  </a:lnTo>
                  <a:lnTo>
                    <a:pt x="135" y="238"/>
                  </a:lnTo>
                  <a:lnTo>
                    <a:pt x="131" y="234"/>
                  </a:lnTo>
                  <a:lnTo>
                    <a:pt x="125" y="229"/>
                  </a:lnTo>
                  <a:lnTo>
                    <a:pt x="122" y="223"/>
                  </a:lnTo>
                  <a:lnTo>
                    <a:pt x="118" y="218"/>
                  </a:lnTo>
                  <a:lnTo>
                    <a:pt x="115" y="212"/>
                  </a:lnTo>
                  <a:lnTo>
                    <a:pt x="113" y="205"/>
                  </a:lnTo>
                  <a:lnTo>
                    <a:pt x="110" y="198"/>
                  </a:lnTo>
                  <a:lnTo>
                    <a:pt x="109" y="190"/>
                  </a:lnTo>
                  <a:lnTo>
                    <a:pt x="109" y="183"/>
                  </a:lnTo>
                  <a:lnTo>
                    <a:pt x="109" y="176"/>
                  </a:lnTo>
                  <a:lnTo>
                    <a:pt x="110" y="169"/>
                  </a:lnTo>
                  <a:lnTo>
                    <a:pt x="113" y="162"/>
                  </a:lnTo>
                  <a:lnTo>
                    <a:pt x="115" y="156"/>
                  </a:lnTo>
                  <a:lnTo>
                    <a:pt x="118" y="149"/>
                  </a:lnTo>
                  <a:lnTo>
                    <a:pt x="122" y="143"/>
                  </a:lnTo>
                  <a:lnTo>
                    <a:pt x="125" y="138"/>
                  </a:lnTo>
                  <a:lnTo>
                    <a:pt x="131" y="132"/>
                  </a:lnTo>
                  <a:lnTo>
                    <a:pt x="135" y="128"/>
                  </a:lnTo>
                  <a:lnTo>
                    <a:pt x="141" y="124"/>
                  </a:lnTo>
                  <a:lnTo>
                    <a:pt x="147" y="121"/>
                  </a:lnTo>
                  <a:lnTo>
                    <a:pt x="153" y="117"/>
                  </a:lnTo>
                  <a:lnTo>
                    <a:pt x="160" y="114"/>
                  </a:lnTo>
                  <a:lnTo>
                    <a:pt x="166" y="113"/>
                  </a:lnTo>
                  <a:lnTo>
                    <a:pt x="174" y="112"/>
                  </a:lnTo>
                  <a:lnTo>
                    <a:pt x="181" y="111"/>
                  </a:lnTo>
                  <a:lnTo>
                    <a:pt x="189" y="112"/>
                  </a:lnTo>
                  <a:lnTo>
                    <a:pt x="195" y="113"/>
                  </a:lnTo>
                  <a:lnTo>
                    <a:pt x="202" y="114"/>
                  </a:lnTo>
                  <a:lnTo>
                    <a:pt x="209" y="117"/>
                  </a:lnTo>
                  <a:lnTo>
                    <a:pt x="215" y="121"/>
                  </a:lnTo>
                  <a:lnTo>
                    <a:pt x="221" y="124"/>
                  </a:lnTo>
                  <a:lnTo>
                    <a:pt x="226" y="128"/>
                  </a:lnTo>
                  <a:lnTo>
                    <a:pt x="231" y="132"/>
                  </a:lnTo>
                  <a:lnTo>
                    <a:pt x="236" y="138"/>
                  </a:lnTo>
                  <a:lnTo>
                    <a:pt x="240" y="143"/>
                  </a:lnTo>
                  <a:lnTo>
                    <a:pt x="244" y="149"/>
                  </a:lnTo>
                  <a:lnTo>
                    <a:pt x="247" y="156"/>
                  </a:lnTo>
                  <a:lnTo>
                    <a:pt x="250" y="162"/>
                  </a:lnTo>
                  <a:lnTo>
                    <a:pt x="251" y="169"/>
                  </a:lnTo>
                  <a:lnTo>
                    <a:pt x="252" y="176"/>
                  </a:lnTo>
                  <a:lnTo>
                    <a:pt x="253" y="183"/>
                  </a:lnTo>
                  <a:lnTo>
                    <a:pt x="252" y="190"/>
                  </a:lnTo>
                  <a:lnTo>
                    <a:pt x="251" y="198"/>
                  </a:lnTo>
                  <a:lnTo>
                    <a:pt x="250" y="205"/>
                  </a:lnTo>
                  <a:lnTo>
                    <a:pt x="247" y="212"/>
                  </a:lnTo>
                  <a:lnTo>
                    <a:pt x="244" y="218"/>
                  </a:lnTo>
                  <a:lnTo>
                    <a:pt x="240" y="223"/>
                  </a:lnTo>
                  <a:lnTo>
                    <a:pt x="236" y="229"/>
                  </a:lnTo>
                  <a:lnTo>
                    <a:pt x="231" y="234"/>
                  </a:lnTo>
                  <a:lnTo>
                    <a:pt x="226" y="238"/>
                  </a:lnTo>
                  <a:lnTo>
                    <a:pt x="221" y="243"/>
                  </a:lnTo>
                  <a:lnTo>
                    <a:pt x="215" y="247"/>
                  </a:lnTo>
                  <a:lnTo>
                    <a:pt x="209" y="249"/>
                  </a:lnTo>
                  <a:lnTo>
                    <a:pt x="202" y="252"/>
                  </a:lnTo>
                  <a:lnTo>
                    <a:pt x="195" y="253"/>
                  </a:lnTo>
                  <a:lnTo>
                    <a:pt x="189" y="254"/>
                  </a:lnTo>
                  <a:lnTo>
                    <a:pt x="181" y="255"/>
                  </a:lnTo>
                  <a:close/>
                  <a:moveTo>
                    <a:pt x="354" y="223"/>
                  </a:moveTo>
                  <a:lnTo>
                    <a:pt x="327" y="207"/>
                  </a:lnTo>
                  <a:lnTo>
                    <a:pt x="328" y="195"/>
                  </a:lnTo>
                  <a:lnTo>
                    <a:pt x="328" y="183"/>
                  </a:lnTo>
                  <a:lnTo>
                    <a:pt x="328" y="172"/>
                  </a:lnTo>
                  <a:lnTo>
                    <a:pt x="327" y="160"/>
                  </a:lnTo>
                  <a:lnTo>
                    <a:pt x="354" y="144"/>
                  </a:lnTo>
                  <a:lnTo>
                    <a:pt x="357" y="143"/>
                  </a:lnTo>
                  <a:lnTo>
                    <a:pt x="359" y="141"/>
                  </a:lnTo>
                  <a:lnTo>
                    <a:pt x="360" y="139"/>
                  </a:lnTo>
                  <a:lnTo>
                    <a:pt x="361" y="136"/>
                  </a:lnTo>
                  <a:lnTo>
                    <a:pt x="362" y="132"/>
                  </a:lnTo>
                  <a:lnTo>
                    <a:pt x="362" y="129"/>
                  </a:lnTo>
                  <a:lnTo>
                    <a:pt x="361" y="126"/>
                  </a:lnTo>
                  <a:lnTo>
                    <a:pt x="360" y="124"/>
                  </a:lnTo>
                  <a:lnTo>
                    <a:pt x="322" y="59"/>
                  </a:lnTo>
                  <a:lnTo>
                    <a:pt x="320" y="56"/>
                  </a:lnTo>
                  <a:lnTo>
                    <a:pt x="318" y="54"/>
                  </a:lnTo>
                  <a:lnTo>
                    <a:pt x="316" y="53"/>
                  </a:lnTo>
                  <a:lnTo>
                    <a:pt x="313" y="51"/>
                  </a:lnTo>
                  <a:lnTo>
                    <a:pt x="309" y="51"/>
                  </a:lnTo>
                  <a:lnTo>
                    <a:pt x="307" y="51"/>
                  </a:lnTo>
                  <a:lnTo>
                    <a:pt x="304" y="52"/>
                  </a:lnTo>
                  <a:lnTo>
                    <a:pt x="301" y="53"/>
                  </a:lnTo>
                  <a:lnTo>
                    <a:pt x="274" y="69"/>
                  </a:lnTo>
                  <a:lnTo>
                    <a:pt x="266" y="63"/>
                  </a:lnTo>
                  <a:lnTo>
                    <a:pt x="256" y="56"/>
                  </a:lnTo>
                  <a:lnTo>
                    <a:pt x="246" y="51"/>
                  </a:lnTo>
                  <a:lnTo>
                    <a:pt x="237" y="47"/>
                  </a:lnTo>
                  <a:lnTo>
                    <a:pt x="237" y="14"/>
                  </a:lnTo>
                  <a:lnTo>
                    <a:pt x="236" y="10"/>
                  </a:lnTo>
                  <a:lnTo>
                    <a:pt x="236" y="8"/>
                  </a:lnTo>
                  <a:lnTo>
                    <a:pt x="233" y="5"/>
                  </a:lnTo>
                  <a:lnTo>
                    <a:pt x="232" y="3"/>
                  </a:lnTo>
                  <a:lnTo>
                    <a:pt x="229" y="2"/>
                  </a:lnTo>
                  <a:lnTo>
                    <a:pt x="227" y="1"/>
                  </a:lnTo>
                  <a:lnTo>
                    <a:pt x="224" y="0"/>
                  </a:lnTo>
                  <a:lnTo>
                    <a:pt x="222" y="0"/>
                  </a:lnTo>
                  <a:lnTo>
                    <a:pt x="146" y="0"/>
                  </a:lnTo>
                  <a:lnTo>
                    <a:pt x="143" y="0"/>
                  </a:lnTo>
                  <a:lnTo>
                    <a:pt x="140" y="1"/>
                  </a:lnTo>
                  <a:lnTo>
                    <a:pt x="137" y="2"/>
                  </a:lnTo>
                  <a:lnTo>
                    <a:pt x="135" y="3"/>
                  </a:lnTo>
                  <a:lnTo>
                    <a:pt x="134" y="5"/>
                  </a:lnTo>
                  <a:lnTo>
                    <a:pt x="132" y="8"/>
                  </a:lnTo>
                  <a:lnTo>
                    <a:pt x="132" y="10"/>
                  </a:lnTo>
                  <a:lnTo>
                    <a:pt x="131" y="14"/>
                  </a:lnTo>
                  <a:lnTo>
                    <a:pt x="131" y="47"/>
                  </a:lnTo>
                  <a:lnTo>
                    <a:pt x="120" y="52"/>
                  </a:lnTo>
                  <a:lnTo>
                    <a:pt x="109" y="57"/>
                  </a:lnTo>
                  <a:lnTo>
                    <a:pt x="99" y="63"/>
                  </a:lnTo>
                  <a:lnTo>
                    <a:pt x="90" y="69"/>
                  </a:lnTo>
                  <a:lnTo>
                    <a:pt x="61" y="53"/>
                  </a:lnTo>
                  <a:lnTo>
                    <a:pt x="58" y="52"/>
                  </a:lnTo>
                  <a:lnTo>
                    <a:pt x="55" y="51"/>
                  </a:lnTo>
                  <a:lnTo>
                    <a:pt x="53" y="51"/>
                  </a:lnTo>
                  <a:lnTo>
                    <a:pt x="49" y="51"/>
                  </a:lnTo>
                  <a:lnTo>
                    <a:pt x="47" y="52"/>
                  </a:lnTo>
                  <a:lnTo>
                    <a:pt x="44" y="54"/>
                  </a:lnTo>
                  <a:lnTo>
                    <a:pt x="42" y="56"/>
                  </a:lnTo>
                  <a:lnTo>
                    <a:pt x="41" y="59"/>
                  </a:lnTo>
                  <a:lnTo>
                    <a:pt x="2" y="124"/>
                  </a:lnTo>
                  <a:lnTo>
                    <a:pt x="1" y="126"/>
                  </a:lnTo>
                  <a:lnTo>
                    <a:pt x="0" y="129"/>
                  </a:lnTo>
                  <a:lnTo>
                    <a:pt x="0" y="132"/>
                  </a:lnTo>
                  <a:lnTo>
                    <a:pt x="1" y="136"/>
                  </a:lnTo>
                  <a:lnTo>
                    <a:pt x="2" y="139"/>
                  </a:lnTo>
                  <a:lnTo>
                    <a:pt x="3" y="141"/>
                  </a:lnTo>
                  <a:lnTo>
                    <a:pt x="6" y="143"/>
                  </a:lnTo>
                  <a:lnTo>
                    <a:pt x="8" y="144"/>
                  </a:lnTo>
                  <a:lnTo>
                    <a:pt x="36" y="160"/>
                  </a:lnTo>
                  <a:lnTo>
                    <a:pt x="34" y="172"/>
                  </a:lnTo>
                  <a:lnTo>
                    <a:pt x="34" y="183"/>
                  </a:lnTo>
                  <a:lnTo>
                    <a:pt x="34" y="195"/>
                  </a:lnTo>
                  <a:lnTo>
                    <a:pt x="36" y="207"/>
                  </a:lnTo>
                  <a:lnTo>
                    <a:pt x="8" y="223"/>
                  </a:lnTo>
                  <a:lnTo>
                    <a:pt x="6" y="224"/>
                  </a:lnTo>
                  <a:lnTo>
                    <a:pt x="3" y="227"/>
                  </a:lnTo>
                  <a:lnTo>
                    <a:pt x="1" y="230"/>
                  </a:lnTo>
                  <a:lnTo>
                    <a:pt x="0" y="233"/>
                  </a:lnTo>
                  <a:lnTo>
                    <a:pt x="0" y="235"/>
                  </a:lnTo>
                  <a:lnTo>
                    <a:pt x="0" y="237"/>
                  </a:lnTo>
                  <a:lnTo>
                    <a:pt x="1" y="240"/>
                  </a:lnTo>
                  <a:lnTo>
                    <a:pt x="2" y="243"/>
                  </a:lnTo>
                  <a:lnTo>
                    <a:pt x="40" y="309"/>
                  </a:lnTo>
                  <a:lnTo>
                    <a:pt x="42" y="311"/>
                  </a:lnTo>
                  <a:lnTo>
                    <a:pt x="44" y="313"/>
                  </a:lnTo>
                  <a:lnTo>
                    <a:pt x="46" y="314"/>
                  </a:lnTo>
                  <a:lnTo>
                    <a:pt x="48" y="315"/>
                  </a:lnTo>
                  <a:lnTo>
                    <a:pt x="55" y="316"/>
                  </a:lnTo>
                  <a:lnTo>
                    <a:pt x="60" y="314"/>
                  </a:lnTo>
                  <a:lnTo>
                    <a:pt x="90" y="297"/>
                  </a:lnTo>
                  <a:lnTo>
                    <a:pt x="99" y="304"/>
                  </a:lnTo>
                  <a:lnTo>
                    <a:pt x="109" y="310"/>
                  </a:lnTo>
                  <a:lnTo>
                    <a:pt x="120" y="316"/>
                  </a:lnTo>
                  <a:lnTo>
                    <a:pt x="131" y="321"/>
                  </a:lnTo>
                  <a:lnTo>
                    <a:pt x="131" y="354"/>
                  </a:lnTo>
                  <a:lnTo>
                    <a:pt x="132" y="356"/>
                  </a:lnTo>
                  <a:lnTo>
                    <a:pt x="132" y="359"/>
                  </a:lnTo>
                  <a:lnTo>
                    <a:pt x="134" y="361"/>
                  </a:lnTo>
                  <a:lnTo>
                    <a:pt x="135" y="363"/>
                  </a:lnTo>
                  <a:lnTo>
                    <a:pt x="137" y="366"/>
                  </a:lnTo>
                  <a:lnTo>
                    <a:pt x="140" y="368"/>
                  </a:lnTo>
                  <a:lnTo>
                    <a:pt x="143" y="368"/>
                  </a:lnTo>
                  <a:lnTo>
                    <a:pt x="146" y="369"/>
                  </a:lnTo>
                  <a:lnTo>
                    <a:pt x="222" y="369"/>
                  </a:lnTo>
                  <a:lnTo>
                    <a:pt x="225" y="368"/>
                  </a:lnTo>
                  <a:lnTo>
                    <a:pt x="227" y="368"/>
                  </a:lnTo>
                  <a:lnTo>
                    <a:pt x="229" y="366"/>
                  </a:lnTo>
                  <a:lnTo>
                    <a:pt x="232" y="363"/>
                  </a:lnTo>
                  <a:lnTo>
                    <a:pt x="233" y="361"/>
                  </a:lnTo>
                  <a:lnTo>
                    <a:pt x="236" y="359"/>
                  </a:lnTo>
                  <a:lnTo>
                    <a:pt x="236" y="356"/>
                  </a:lnTo>
                  <a:lnTo>
                    <a:pt x="237" y="354"/>
                  </a:lnTo>
                  <a:lnTo>
                    <a:pt x="237" y="321"/>
                  </a:lnTo>
                  <a:lnTo>
                    <a:pt x="246" y="316"/>
                  </a:lnTo>
                  <a:lnTo>
                    <a:pt x="256" y="311"/>
                  </a:lnTo>
                  <a:lnTo>
                    <a:pt x="266" y="305"/>
                  </a:lnTo>
                  <a:lnTo>
                    <a:pt x="274" y="298"/>
                  </a:lnTo>
                  <a:lnTo>
                    <a:pt x="302" y="313"/>
                  </a:lnTo>
                  <a:lnTo>
                    <a:pt x="305" y="315"/>
                  </a:lnTo>
                  <a:lnTo>
                    <a:pt x="307" y="315"/>
                  </a:lnTo>
                  <a:lnTo>
                    <a:pt x="310" y="316"/>
                  </a:lnTo>
                  <a:lnTo>
                    <a:pt x="314" y="316"/>
                  </a:lnTo>
                  <a:lnTo>
                    <a:pt x="319" y="313"/>
                  </a:lnTo>
                  <a:lnTo>
                    <a:pt x="322" y="309"/>
                  </a:lnTo>
                  <a:lnTo>
                    <a:pt x="360" y="243"/>
                  </a:lnTo>
                  <a:lnTo>
                    <a:pt x="362" y="240"/>
                  </a:lnTo>
                  <a:lnTo>
                    <a:pt x="362" y="237"/>
                  </a:lnTo>
                  <a:lnTo>
                    <a:pt x="362" y="234"/>
                  </a:lnTo>
                  <a:lnTo>
                    <a:pt x="362" y="232"/>
                  </a:lnTo>
                  <a:lnTo>
                    <a:pt x="361" y="229"/>
                  </a:lnTo>
                  <a:lnTo>
                    <a:pt x="359" y="227"/>
                  </a:lnTo>
                  <a:lnTo>
                    <a:pt x="357" y="224"/>
                  </a:lnTo>
                  <a:lnTo>
                    <a:pt x="354" y="22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p:txBody>
        </p:sp>
      </p:grpSp>
      <p:sp>
        <p:nvSpPr>
          <p:cNvPr id="159" name="Google Shape;159;p5" descr="Icono de gráfico de cajas y bigotes. "/>
          <p:cNvSpPr/>
          <p:nvPr/>
        </p:nvSpPr>
        <p:spPr>
          <a:xfrm>
            <a:off x="3967321" y="3532346"/>
            <a:ext cx="345758" cy="345758"/>
          </a:xfrm>
          <a:custGeom>
            <a:avLst/>
            <a:gdLst/>
            <a:ahLst/>
            <a:cxnLst/>
            <a:rect l="l" t="t" r="r" b="b"/>
            <a:pathLst>
              <a:path w="898" h="898" extrusionOk="0">
                <a:moveTo>
                  <a:pt x="718" y="464"/>
                </a:moveTo>
                <a:lnTo>
                  <a:pt x="718" y="467"/>
                </a:lnTo>
                <a:lnTo>
                  <a:pt x="717" y="470"/>
                </a:lnTo>
                <a:lnTo>
                  <a:pt x="716" y="472"/>
                </a:lnTo>
                <a:lnTo>
                  <a:pt x="714" y="474"/>
                </a:lnTo>
                <a:lnTo>
                  <a:pt x="712" y="477"/>
                </a:lnTo>
                <a:lnTo>
                  <a:pt x="710" y="478"/>
                </a:lnTo>
                <a:lnTo>
                  <a:pt x="706" y="479"/>
                </a:lnTo>
                <a:lnTo>
                  <a:pt x="703" y="479"/>
                </a:lnTo>
                <a:lnTo>
                  <a:pt x="658" y="479"/>
                </a:lnTo>
                <a:lnTo>
                  <a:pt x="658" y="543"/>
                </a:lnTo>
                <a:lnTo>
                  <a:pt x="658" y="546"/>
                </a:lnTo>
                <a:lnTo>
                  <a:pt x="657" y="549"/>
                </a:lnTo>
                <a:lnTo>
                  <a:pt x="656" y="551"/>
                </a:lnTo>
                <a:lnTo>
                  <a:pt x="654" y="554"/>
                </a:lnTo>
                <a:lnTo>
                  <a:pt x="652" y="556"/>
                </a:lnTo>
                <a:lnTo>
                  <a:pt x="650" y="557"/>
                </a:lnTo>
                <a:lnTo>
                  <a:pt x="647" y="558"/>
                </a:lnTo>
                <a:lnTo>
                  <a:pt x="643" y="558"/>
                </a:lnTo>
                <a:lnTo>
                  <a:pt x="641" y="558"/>
                </a:lnTo>
                <a:lnTo>
                  <a:pt x="638" y="557"/>
                </a:lnTo>
                <a:lnTo>
                  <a:pt x="636" y="556"/>
                </a:lnTo>
                <a:lnTo>
                  <a:pt x="634" y="554"/>
                </a:lnTo>
                <a:lnTo>
                  <a:pt x="632" y="551"/>
                </a:lnTo>
                <a:lnTo>
                  <a:pt x="631" y="549"/>
                </a:lnTo>
                <a:lnTo>
                  <a:pt x="629" y="546"/>
                </a:lnTo>
                <a:lnTo>
                  <a:pt x="628" y="543"/>
                </a:lnTo>
                <a:lnTo>
                  <a:pt x="628" y="479"/>
                </a:lnTo>
                <a:lnTo>
                  <a:pt x="583" y="479"/>
                </a:lnTo>
                <a:lnTo>
                  <a:pt x="581" y="479"/>
                </a:lnTo>
                <a:lnTo>
                  <a:pt x="578" y="478"/>
                </a:lnTo>
                <a:lnTo>
                  <a:pt x="576" y="477"/>
                </a:lnTo>
                <a:lnTo>
                  <a:pt x="574" y="474"/>
                </a:lnTo>
                <a:lnTo>
                  <a:pt x="572" y="472"/>
                </a:lnTo>
                <a:lnTo>
                  <a:pt x="571" y="470"/>
                </a:lnTo>
                <a:lnTo>
                  <a:pt x="570" y="467"/>
                </a:lnTo>
                <a:lnTo>
                  <a:pt x="570" y="464"/>
                </a:lnTo>
                <a:lnTo>
                  <a:pt x="570" y="404"/>
                </a:lnTo>
                <a:lnTo>
                  <a:pt x="570" y="402"/>
                </a:lnTo>
                <a:lnTo>
                  <a:pt x="571" y="398"/>
                </a:lnTo>
                <a:lnTo>
                  <a:pt x="572" y="396"/>
                </a:lnTo>
                <a:lnTo>
                  <a:pt x="574" y="394"/>
                </a:lnTo>
                <a:lnTo>
                  <a:pt x="576" y="392"/>
                </a:lnTo>
                <a:lnTo>
                  <a:pt x="578" y="391"/>
                </a:lnTo>
                <a:lnTo>
                  <a:pt x="581" y="390"/>
                </a:lnTo>
                <a:lnTo>
                  <a:pt x="583" y="389"/>
                </a:lnTo>
                <a:lnTo>
                  <a:pt x="628" y="389"/>
                </a:lnTo>
                <a:lnTo>
                  <a:pt x="628" y="129"/>
                </a:lnTo>
                <a:lnTo>
                  <a:pt x="629" y="126"/>
                </a:lnTo>
                <a:lnTo>
                  <a:pt x="631" y="123"/>
                </a:lnTo>
                <a:lnTo>
                  <a:pt x="632" y="121"/>
                </a:lnTo>
                <a:lnTo>
                  <a:pt x="634" y="118"/>
                </a:lnTo>
                <a:lnTo>
                  <a:pt x="636" y="117"/>
                </a:lnTo>
                <a:lnTo>
                  <a:pt x="638" y="115"/>
                </a:lnTo>
                <a:lnTo>
                  <a:pt x="641" y="114"/>
                </a:lnTo>
                <a:lnTo>
                  <a:pt x="643" y="114"/>
                </a:lnTo>
                <a:lnTo>
                  <a:pt x="647" y="114"/>
                </a:lnTo>
                <a:lnTo>
                  <a:pt x="650" y="115"/>
                </a:lnTo>
                <a:lnTo>
                  <a:pt x="652" y="117"/>
                </a:lnTo>
                <a:lnTo>
                  <a:pt x="654" y="118"/>
                </a:lnTo>
                <a:lnTo>
                  <a:pt x="656" y="121"/>
                </a:lnTo>
                <a:lnTo>
                  <a:pt x="657" y="123"/>
                </a:lnTo>
                <a:lnTo>
                  <a:pt x="658" y="127"/>
                </a:lnTo>
                <a:lnTo>
                  <a:pt x="658" y="129"/>
                </a:lnTo>
                <a:lnTo>
                  <a:pt x="658" y="389"/>
                </a:lnTo>
                <a:lnTo>
                  <a:pt x="703" y="389"/>
                </a:lnTo>
                <a:lnTo>
                  <a:pt x="706" y="390"/>
                </a:lnTo>
                <a:lnTo>
                  <a:pt x="710" y="391"/>
                </a:lnTo>
                <a:lnTo>
                  <a:pt x="712" y="392"/>
                </a:lnTo>
                <a:lnTo>
                  <a:pt x="714" y="394"/>
                </a:lnTo>
                <a:lnTo>
                  <a:pt x="716" y="396"/>
                </a:lnTo>
                <a:lnTo>
                  <a:pt x="717" y="398"/>
                </a:lnTo>
                <a:lnTo>
                  <a:pt x="718" y="402"/>
                </a:lnTo>
                <a:lnTo>
                  <a:pt x="718" y="404"/>
                </a:lnTo>
                <a:lnTo>
                  <a:pt x="718" y="464"/>
                </a:lnTo>
                <a:close/>
                <a:moveTo>
                  <a:pt x="643" y="763"/>
                </a:moveTo>
                <a:lnTo>
                  <a:pt x="638" y="762"/>
                </a:lnTo>
                <a:lnTo>
                  <a:pt x="632" y="762"/>
                </a:lnTo>
                <a:lnTo>
                  <a:pt x="626" y="760"/>
                </a:lnTo>
                <a:lnTo>
                  <a:pt x="621" y="758"/>
                </a:lnTo>
                <a:lnTo>
                  <a:pt x="616" y="756"/>
                </a:lnTo>
                <a:lnTo>
                  <a:pt x="610" y="753"/>
                </a:lnTo>
                <a:lnTo>
                  <a:pt x="606" y="749"/>
                </a:lnTo>
                <a:lnTo>
                  <a:pt x="602" y="745"/>
                </a:lnTo>
                <a:lnTo>
                  <a:pt x="597" y="741"/>
                </a:lnTo>
                <a:lnTo>
                  <a:pt x="594" y="737"/>
                </a:lnTo>
                <a:lnTo>
                  <a:pt x="591" y="731"/>
                </a:lnTo>
                <a:lnTo>
                  <a:pt x="589" y="727"/>
                </a:lnTo>
                <a:lnTo>
                  <a:pt x="587" y="720"/>
                </a:lnTo>
                <a:lnTo>
                  <a:pt x="586" y="715"/>
                </a:lnTo>
                <a:lnTo>
                  <a:pt x="584" y="710"/>
                </a:lnTo>
                <a:lnTo>
                  <a:pt x="583" y="703"/>
                </a:lnTo>
                <a:lnTo>
                  <a:pt x="584" y="697"/>
                </a:lnTo>
                <a:lnTo>
                  <a:pt x="586" y="692"/>
                </a:lnTo>
                <a:lnTo>
                  <a:pt x="587" y="685"/>
                </a:lnTo>
                <a:lnTo>
                  <a:pt x="589" y="680"/>
                </a:lnTo>
                <a:lnTo>
                  <a:pt x="591" y="674"/>
                </a:lnTo>
                <a:lnTo>
                  <a:pt x="594" y="670"/>
                </a:lnTo>
                <a:lnTo>
                  <a:pt x="597" y="665"/>
                </a:lnTo>
                <a:lnTo>
                  <a:pt x="602" y="661"/>
                </a:lnTo>
                <a:lnTo>
                  <a:pt x="606" y="657"/>
                </a:lnTo>
                <a:lnTo>
                  <a:pt x="610" y="653"/>
                </a:lnTo>
                <a:lnTo>
                  <a:pt x="616" y="651"/>
                </a:lnTo>
                <a:lnTo>
                  <a:pt x="621" y="648"/>
                </a:lnTo>
                <a:lnTo>
                  <a:pt x="626" y="646"/>
                </a:lnTo>
                <a:lnTo>
                  <a:pt x="632" y="645"/>
                </a:lnTo>
                <a:lnTo>
                  <a:pt x="638" y="643"/>
                </a:lnTo>
                <a:lnTo>
                  <a:pt x="643" y="643"/>
                </a:lnTo>
                <a:lnTo>
                  <a:pt x="650" y="643"/>
                </a:lnTo>
                <a:lnTo>
                  <a:pt x="656" y="645"/>
                </a:lnTo>
                <a:lnTo>
                  <a:pt x="662" y="646"/>
                </a:lnTo>
                <a:lnTo>
                  <a:pt x="667" y="648"/>
                </a:lnTo>
                <a:lnTo>
                  <a:pt x="672" y="651"/>
                </a:lnTo>
                <a:lnTo>
                  <a:pt x="678" y="653"/>
                </a:lnTo>
                <a:lnTo>
                  <a:pt x="682" y="657"/>
                </a:lnTo>
                <a:lnTo>
                  <a:pt x="686" y="661"/>
                </a:lnTo>
                <a:lnTo>
                  <a:pt x="690" y="665"/>
                </a:lnTo>
                <a:lnTo>
                  <a:pt x="694" y="670"/>
                </a:lnTo>
                <a:lnTo>
                  <a:pt x="697" y="674"/>
                </a:lnTo>
                <a:lnTo>
                  <a:pt x="699" y="680"/>
                </a:lnTo>
                <a:lnTo>
                  <a:pt x="701" y="685"/>
                </a:lnTo>
                <a:lnTo>
                  <a:pt x="702" y="692"/>
                </a:lnTo>
                <a:lnTo>
                  <a:pt x="703" y="697"/>
                </a:lnTo>
                <a:lnTo>
                  <a:pt x="703" y="703"/>
                </a:lnTo>
                <a:lnTo>
                  <a:pt x="703" y="710"/>
                </a:lnTo>
                <a:lnTo>
                  <a:pt x="702" y="715"/>
                </a:lnTo>
                <a:lnTo>
                  <a:pt x="701" y="720"/>
                </a:lnTo>
                <a:lnTo>
                  <a:pt x="699" y="727"/>
                </a:lnTo>
                <a:lnTo>
                  <a:pt x="697" y="731"/>
                </a:lnTo>
                <a:lnTo>
                  <a:pt x="694" y="737"/>
                </a:lnTo>
                <a:lnTo>
                  <a:pt x="690" y="741"/>
                </a:lnTo>
                <a:lnTo>
                  <a:pt x="686" y="745"/>
                </a:lnTo>
                <a:lnTo>
                  <a:pt x="682" y="749"/>
                </a:lnTo>
                <a:lnTo>
                  <a:pt x="678" y="753"/>
                </a:lnTo>
                <a:lnTo>
                  <a:pt x="672" y="756"/>
                </a:lnTo>
                <a:lnTo>
                  <a:pt x="667" y="758"/>
                </a:lnTo>
                <a:lnTo>
                  <a:pt x="662" y="760"/>
                </a:lnTo>
                <a:lnTo>
                  <a:pt x="656" y="762"/>
                </a:lnTo>
                <a:lnTo>
                  <a:pt x="650" y="762"/>
                </a:lnTo>
                <a:lnTo>
                  <a:pt x="643" y="763"/>
                </a:lnTo>
                <a:close/>
                <a:moveTo>
                  <a:pt x="540" y="284"/>
                </a:moveTo>
                <a:lnTo>
                  <a:pt x="538" y="287"/>
                </a:lnTo>
                <a:lnTo>
                  <a:pt x="537" y="290"/>
                </a:lnTo>
                <a:lnTo>
                  <a:pt x="536" y="294"/>
                </a:lnTo>
                <a:lnTo>
                  <a:pt x="534" y="296"/>
                </a:lnTo>
                <a:lnTo>
                  <a:pt x="532" y="297"/>
                </a:lnTo>
                <a:lnTo>
                  <a:pt x="530" y="298"/>
                </a:lnTo>
                <a:lnTo>
                  <a:pt x="527" y="299"/>
                </a:lnTo>
                <a:lnTo>
                  <a:pt x="525" y="299"/>
                </a:lnTo>
                <a:lnTo>
                  <a:pt x="480" y="299"/>
                </a:lnTo>
                <a:lnTo>
                  <a:pt x="480" y="543"/>
                </a:lnTo>
                <a:lnTo>
                  <a:pt x="479" y="546"/>
                </a:lnTo>
                <a:lnTo>
                  <a:pt x="479" y="549"/>
                </a:lnTo>
                <a:lnTo>
                  <a:pt x="476" y="551"/>
                </a:lnTo>
                <a:lnTo>
                  <a:pt x="475" y="554"/>
                </a:lnTo>
                <a:lnTo>
                  <a:pt x="472" y="556"/>
                </a:lnTo>
                <a:lnTo>
                  <a:pt x="470" y="557"/>
                </a:lnTo>
                <a:lnTo>
                  <a:pt x="467" y="558"/>
                </a:lnTo>
                <a:lnTo>
                  <a:pt x="465" y="558"/>
                </a:lnTo>
                <a:lnTo>
                  <a:pt x="461" y="558"/>
                </a:lnTo>
                <a:lnTo>
                  <a:pt x="458" y="557"/>
                </a:lnTo>
                <a:lnTo>
                  <a:pt x="456" y="556"/>
                </a:lnTo>
                <a:lnTo>
                  <a:pt x="454" y="554"/>
                </a:lnTo>
                <a:lnTo>
                  <a:pt x="452" y="551"/>
                </a:lnTo>
                <a:lnTo>
                  <a:pt x="451" y="549"/>
                </a:lnTo>
                <a:lnTo>
                  <a:pt x="450" y="546"/>
                </a:lnTo>
                <a:lnTo>
                  <a:pt x="450" y="543"/>
                </a:lnTo>
                <a:lnTo>
                  <a:pt x="450" y="299"/>
                </a:lnTo>
                <a:lnTo>
                  <a:pt x="405" y="299"/>
                </a:lnTo>
                <a:lnTo>
                  <a:pt x="402" y="299"/>
                </a:lnTo>
                <a:lnTo>
                  <a:pt x="398" y="298"/>
                </a:lnTo>
                <a:lnTo>
                  <a:pt x="396" y="297"/>
                </a:lnTo>
                <a:lnTo>
                  <a:pt x="394" y="296"/>
                </a:lnTo>
                <a:lnTo>
                  <a:pt x="392" y="294"/>
                </a:lnTo>
                <a:lnTo>
                  <a:pt x="391" y="290"/>
                </a:lnTo>
                <a:lnTo>
                  <a:pt x="390" y="287"/>
                </a:lnTo>
                <a:lnTo>
                  <a:pt x="390" y="284"/>
                </a:lnTo>
                <a:lnTo>
                  <a:pt x="390" y="225"/>
                </a:lnTo>
                <a:lnTo>
                  <a:pt x="390" y="222"/>
                </a:lnTo>
                <a:lnTo>
                  <a:pt x="391" y="219"/>
                </a:lnTo>
                <a:lnTo>
                  <a:pt x="392" y="217"/>
                </a:lnTo>
                <a:lnTo>
                  <a:pt x="394" y="214"/>
                </a:lnTo>
                <a:lnTo>
                  <a:pt x="396" y="212"/>
                </a:lnTo>
                <a:lnTo>
                  <a:pt x="398" y="211"/>
                </a:lnTo>
                <a:lnTo>
                  <a:pt x="402" y="210"/>
                </a:lnTo>
                <a:lnTo>
                  <a:pt x="405" y="210"/>
                </a:lnTo>
                <a:lnTo>
                  <a:pt x="450" y="210"/>
                </a:lnTo>
                <a:lnTo>
                  <a:pt x="450" y="129"/>
                </a:lnTo>
                <a:lnTo>
                  <a:pt x="450" y="126"/>
                </a:lnTo>
                <a:lnTo>
                  <a:pt x="451" y="123"/>
                </a:lnTo>
                <a:lnTo>
                  <a:pt x="452" y="121"/>
                </a:lnTo>
                <a:lnTo>
                  <a:pt x="454" y="118"/>
                </a:lnTo>
                <a:lnTo>
                  <a:pt x="456" y="117"/>
                </a:lnTo>
                <a:lnTo>
                  <a:pt x="458" y="115"/>
                </a:lnTo>
                <a:lnTo>
                  <a:pt x="461" y="114"/>
                </a:lnTo>
                <a:lnTo>
                  <a:pt x="465" y="114"/>
                </a:lnTo>
                <a:lnTo>
                  <a:pt x="467" y="114"/>
                </a:lnTo>
                <a:lnTo>
                  <a:pt x="470" y="115"/>
                </a:lnTo>
                <a:lnTo>
                  <a:pt x="472" y="117"/>
                </a:lnTo>
                <a:lnTo>
                  <a:pt x="475" y="118"/>
                </a:lnTo>
                <a:lnTo>
                  <a:pt x="476" y="121"/>
                </a:lnTo>
                <a:lnTo>
                  <a:pt x="479" y="123"/>
                </a:lnTo>
                <a:lnTo>
                  <a:pt x="479" y="127"/>
                </a:lnTo>
                <a:lnTo>
                  <a:pt x="480" y="129"/>
                </a:lnTo>
                <a:lnTo>
                  <a:pt x="480" y="210"/>
                </a:lnTo>
                <a:lnTo>
                  <a:pt x="525" y="210"/>
                </a:lnTo>
                <a:lnTo>
                  <a:pt x="527" y="210"/>
                </a:lnTo>
                <a:lnTo>
                  <a:pt x="530" y="211"/>
                </a:lnTo>
                <a:lnTo>
                  <a:pt x="532" y="212"/>
                </a:lnTo>
                <a:lnTo>
                  <a:pt x="534" y="214"/>
                </a:lnTo>
                <a:lnTo>
                  <a:pt x="536" y="217"/>
                </a:lnTo>
                <a:lnTo>
                  <a:pt x="537" y="219"/>
                </a:lnTo>
                <a:lnTo>
                  <a:pt x="538" y="222"/>
                </a:lnTo>
                <a:lnTo>
                  <a:pt x="540" y="225"/>
                </a:lnTo>
                <a:lnTo>
                  <a:pt x="540" y="284"/>
                </a:lnTo>
                <a:close/>
                <a:moveTo>
                  <a:pt x="465" y="763"/>
                </a:moveTo>
                <a:lnTo>
                  <a:pt x="458" y="762"/>
                </a:lnTo>
                <a:lnTo>
                  <a:pt x="452" y="762"/>
                </a:lnTo>
                <a:lnTo>
                  <a:pt x="446" y="760"/>
                </a:lnTo>
                <a:lnTo>
                  <a:pt x="441" y="758"/>
                </a:lnTo>
                <a:lnTo>
                  <a:pt x="436" y="756"/>
                </a:lnTo>
                <a:lnTo>
                  <a:pt x="430" y="753"/>
                </a:lnTo>
                <a:lnTo>
                  <a:pt x="426" y="749"/>
                </a:lnTo>
                <a:lnTo>
                  <a:pt x="422" y="745"/>
                </a:lnTo>
                <a:lnTo>
                  <a:pt x="419" y="741"/>
                </a:lnTo>
                <a:lnTo>
                  <a:pt x="414" y="737"/>
                </a:lnTo>
                <a:lnTo>
                  <a:pt x="412" y="731"/>
                </a:lnTo>
                <a:lnTo>
                  <a:pt x="409" y="727"/>
                </a:lnTo>
                <a:lnTo>
                  <a:pt x="407" y="720"/>
                </a:lnTo>
                <a:lnTo>
                  <a:pt x="406" y="715"/>
                </a:lnTo>
                <a:lnTo>
                  <a:pt x="405" y="710"/>
                </a:lnTo>
                <a:lnTo>
                  <a:pt x="405" y="703"/>
                </a:lnTo>
                <a:lnTo>
                  <a:pt x="405" y="697"/>
                </a:lnTo>
                <a:lnTo>
                  <a:pt x="406" y="692"/>
                </a:lnTo>
                <a:lnTo>
                  <a:pt x="407" y="685"/>
                </a:lnTo>
                <a:lnTo>
                  <a:pt x="409" y="680"/>
                </a:lnTo>
                <a:lnTo>
                  <a:pt x="412" y="674"/>
                </a:lnTo>
                <a:lnTo>
                  <a:pt x="414" y="670"/>
                </a:lnTo>
                <a:lnTo>
                  <a:pt x="419" y="665"/>
                </a:lnTo>
                <a:lnTo>
                  <a:pt x="422" y="661"/>
                </a:lnTo>
                <a:lnTo>
                  <a:pt x="426" y="657"/>
                </a:lnTo>
                <a:lnTo>
                  <a:pt x="430" y="653"/>
                </a:lnTo>
                <a:lnTo>
                  <a:pt x="436" y="651"/>
                </a:lnTo>
                <a:lnTo>
                  <a:pt x="441" y="648"/>
                </a:lnTo>
                <a:lnTo>
                  <a:pt x="446" y="646"/>
                </a:lnTo>
                <a:lnTo>
                  <a:pt x="452" y="645"/>
                </a:lnTo>
                <a:lnTo>
                  <a:pt x="458" y="643"/>
                </a:lnTo>
                <a:lnTo>
                  <a:pt x="465" y="643"/>
                </a:lnTo>
                <a:lnTo>
                  <a:pt x="470" y="643"/>
                </a:lnTo>
                <a:lnTo>
                  <a:pt x="476" y="645"/>
                </a:lnTo>
                <a:lnTo>
                  <a:pt x="482" y="646"/>
                </a:lnTo>
                <a:lnTo>
                  <a:pt x="487" y="648"/>
                </a:lnTo>
                <a:lnTo>
                  <a:pt x="492" y="651"/>
                </a:lnTo>
                <a:lnTo>
                  <a:pt x="498" y="653"/>
                </a:lnTo>
                <a:lnTo>
                  <a:pt x="502" y="657"/>
                </a:lnTo>
                <a:lnTo>
                  <a:pt x="506" y="661"/>
                </a:lnTo>
                <a:lnTo>
                  <a:pt x="511" y="665"/>
                </a:lnTo>
                <a:lnTo>
                  <a:pt x="514" y="670"/>
                </a:lnTo>
                <a:lnTo>
                  <a:pt x="517" y="674"/>
                </a:lnTo>
                <a:lnTo>
                  <a:pt x="519" y="680"/>
                </a:lnTo>
                <a:lnTo>
                  <a:pt x="521" y="685"/>
                </a:lnTo>
                <a:lnTo>
                  <a:pt x="522" y="692"/>
                </a:lnTo>
                <a:lnTo>
                  <a:pt x="524" y="697"/>
                </a:lnTo>
                <a:lnTo>
                  <a:pt x="525" y="703"/>
                </a:lnTo>
                <a:lnTo>
                  <a:pt x="524" y="710"/>
                </a:lnTo>
                <a:lnTo>
                  <a:pt x="522" y="715"/>
                </a:lnTo>
                <a:lnTo>
                  <a:pt x="521" y="720"/>
                </a:lnTo>
                <a:lnTo>
                  <a:pt x="519" y="727"/>
                </a:lnTo>
                <a:lnTo>
                  <a:pt x="517" y="731"/>
                </a:lnTo>
                <a:lnTo>
                  <a:pt x="514" y="737"/>
                </a:lnTo>
                <a:lnTo>
                  <a:pt x="511" y="741"/>
                </a:lnTo>
                <a:lnTo>
                  <a:pt x="506" y="745"/>
                </a:lnTo>
                <a:lnTo>
                  <a:pt x="502" y="749"/>
                </a:lnTo>
                <a:lnTo>
                  <a:pt x="498" y="753"/>
                </a:lnTo>
                <a:lnTo>
                  <a:pt x="492" y="756"/>
                </a:lnTo>
                <a:lnTo>
                  <a:pt x="487" y="758"/>
                </a:lnTo>
                <a:lnTo>
                  <a:pt x="482" y="760"/>
                </a:lnTo>
                <a:lnTo>
                  <a:pt x="476" y="762"/>
                </a:lnTo>
                <a:lnTo>
                  <a:pt x="470" y="762"/>
                </a:lnTo>
                <a:lnTo>
                  <a:pt x="465" y="763"/>
                </a:lnTo>
                <a:close/>
                <a:moveTo>
                  <a:pt x="330" y="404"/>
                </a:moveTo>
                <a:lnTo>
                  <a:pt x="330" y="407"/>
                </a:lnTo>
                <a:lnTo>
                  <a:pt x="329" y="410"/>
                </a:lnTo>
                <a:lnTo>
                  <a:pt x="328" y="412"/>
                </a:lnTo>
                <a:lnTo>
                  <a:pt x="326" y="414"/>
                </a:lnTo>
                <a:lnTo>
                  <a:pt x="323" y="417"/>
                </a:lnTo>
                <a:lnTo>
                  <a:pt x="320" y="418"/>
                </a:lnTo>
                <a:lnTo>
                  <a:pt x="318" y="419"/>
                </a:lnTo>
                <a:lnTo>
                  <a:pt x="315" y="419"/>
                </a:lnTo>
                <a:lnTo>
                  <a:pt x="270" y="419"/>
                </a:lnTo>
                <a:lnTo>
                  <a:pt x="270" y="543"/>
                </a:lnTo>
                <a:lnTo>
                  <a:pt x="270" y="546"/>
                </a:lnTo>
                <a:lnTo>
                  <a:pt x="269" y="549"/>
                </a:lnTo>
                <a:lnTo>
                  <a:pt x="268" y="551"/>
                </a:lnTo>
                <a:lnTo>
                  <a:pt x="266" y="554"/>
                </a:lnTo>
                <a:lnTo>
                  <a:pt x="263" y="556"/>
                </a:lnTo>
                <a:lnTo>
                  <a:pt x="260" y="557"/>
                </a:lnTo>
                <a:lnTo>
                  <a:pt x="258" y="558"/>
                </a:lnTo>
                <a:lnTo>
                  <a:pt x="255" y="558"/>
                </a:lnTo>
                <a:lnTo>
                  <a:pt x="252" y="558"/>
                </a:lnTo>
                <a:lnTo>
                  <a:pt x="250" y="557"/>
                </a:lnTo>
                <a:lnTo>
                  <a:pt x="246" y="556"/>
                </a:lnTo>
                <a:lnTo>
                  <a:pt x="244" y="554"/>
                </a:lnTo>
                <a:lnTo>
                  <a:pt x="242" y="551"/>
                </a:lnTo>
                <a:lnTo>
                  <a:pt x="241" y="549"/>
                </a:lnTo>
                <a:lnTo>
                  <a:pt x="240" y="546"/>
                </a:lnTo>
                <a:lnTo>
                  <a:pt x="240" y="543"/>
                </a:lnTo>
                <a:lnTo>
                  <a:pt x="240" y="419"/>
                </a:lnTo>
                <a:lnTo>
                  <a:pt x="195" y="419"/>
                </a:lnTo>
                <a:lnTo>
                  <a:pt x="192" y="419"/>
                </a:lnTo>
                <a:lnTo>
                  <a:pt x="190" y="418"/>
                </a:lnTo>
                <a:lnTo>
                  <a:pt x="186" y="417"/>
                </a:lnTo>
                <a:lnTo>
                  <a:pt x="184" y="414"/>
                </a:lnTo>
                <a:lnTo>
                  <a:pt x="183" y="412"/>
                </a:lnTo>
                <a:lnTo>
                  <a:pt x="181" y="410"/>
                </a:lnTo>
                <a:lnTo>
                  <a:pt x="180" y="407"/>
                </a:lnTo>
                <a:lnTo>
                  <a:pt x="180" y="404"/>
                </a:lnTo>
                <a:lnTo>
                  <a:pt x="180" y="344"/>
                </a:lnTo>
                <a:lnTo>
                  <a:pt x="180" y="342"/>
                </a:lnTo>
                <a:lnTo>
                  <a:pt x="181" y="339"/>
                </a:lnTo>
                <a:lnTo>
                  <a:pt x="183" y="336"/>
                </a:lnTo>
                <a:lnTo>
                  <a:pt x="184" y="334"/>
                </a:lnTo>
                <a:lnTo>
                  <a:pt x="186" y="332"/>
                </a:lnTo>
                <a:lnTo>
                  <a:pt x="190" y="331"/>
                </a:lnTo>
                <a:lnTo>
                  <a:pt x="192" y="330"/>
                </a:lnTo>
                <a:lnTo>
                  <a:pt x="195" y="329"/>
                </a:lnTo>
                <a:lnTo>
                  <a:pt x="240" y="329"/>
                </a:lnTo>
                <a:lnTo>
                  <a:pt x="240" y="129"/>
                </a:lnTo>
                <a:lnTo>
                  <a:pt x="240" y="126"/>
                </a:lnTo>
                <a:lnTo>
                  <a:pt x="241" y="123"/>
                </a:lnTo>
                <a:lnTo>
                  <a:pt x="242" y="121"/>
                </a:lnTo>
                <a:lnTo>
                  <a:pt x="244" y="118"/>
                </a:lnTo>
                <a:lnTo>
                  <a:pt x="246" y="117"/>
                </a:lnTo>
                <a:lnTo>
                  <a:pt x="250" y="115"/>
                </a:lnTo>
                <a:lnTo>
                  <a:pt x="252" y="114"/>
                </a:lnTo>
                <a:lnTo>
                  <a:pt x="255" y="114"/>
                </a:lnTo>
                <a:lnTo>
                  <a:pt x="258" y="114"/>
                </a:lnTo>
                <a:lnTo>
                  <a:pt x="260" y="115"/>
                </a:lnTo>
                <a:lnTo>
                  <a:pt x="263" y="117"/>
                </a:lnTo>
                <a:lnTo>
                  <a:pt x="266" y="118"/>
                </a:lnTo>
                <a:lnTo>
                  <a:pt x="268" y="121"/>
                </a:lnTo>
                <a:lnTo>
                  <a:pt x="269" y="123"/>
                </a:lnTo>
                <a:lnTo>
                  <a:pt x="270" y="127"/>
                </a:lnTo>
                <a:lnTo>
                  <a:pt x="270" y="129"/>
                </a:lnTo>
                <a:lnTo>
                  <a:pt x="270" y="329"/>
                </a:lnTo>
                <a:lnTo>
                  <a:pt x="315" y="329"/>
                </a:lnTo>
                <a:lnTo>
                  <a:pt x="318" y="330"/>
                </a:lnTo>
                <a:lnTo>
                  <a:pt x="320" y="331"/>
                </a:lnTo>
                <a:lnTo>
                  <a:pt x="323" y="332"/>
                </a:lnTo>
                <a:lnTo>
                  <a:pt x="326" y="334"/>
                </a:lnTo>
                <a:lnTo>
                  <a:pt x="328" y="336"/>
                </a:lnTo>
                <a:lnTo>
                  <a:pt x="329" y="339"/>
                </a:lnTo>
                <a:lnTo>
                  <a:pt x="330" y="342"/>
                </a:lnTo>
                <a:lnTo>
                  <a:pt x="330" y="344"/>
                </a:lnTo>
                <a:lnTo>
                  <a:pt x="330" y="404"/>
                </a:lnTo>
                <a:close/>
                <a:moveTo>
                  <a:pt x="255" y="763"/>
                </a:moveTo>
                <a:lnTo>
                  <a:pt x="249" y="762"/>
                </a:lnTo>
                <a:lnTo>
                  <a:pt x="243" y="762"/>
                </a:lnTo>
                <a:lnTo>
                  <a:pt x="237" y="760"/>
                </a:lnTo>
                <a:lnTo>
                  <a:pt x="231" y="758"/>
                </a:lnTo>
                <a:lnTo>
                  <a:pt x="226" y="756"/>
                </a:lnTo>
                <a:lnTo>
                  <a:pt x="222" y="753"/>
                </a:lnTo>
                <a:lnTo>
                  <a:pt x="216" y="749"/>
                </a:lnTo>
                <a:lnTo>
                  <a:pt x="212" y="745"/>
                </a:lnTo>
                <a:lnTo>
                  <a:pt x="209" y="741"/>
                </a:lnTo>
                <a:lnTo>
                  <a:pt x="206" y="737"/>
                </a:lnTo>
                <a:lnTo>
                  <a:pt x="203" y="731"/>
                </a:lnTo>
                <a:lnTo>
                  <a:pt x="200" y="727"/>
                </a:lnTo>
                <a:lnTo>
                  <a:pt x="198" y="720"/>
                </a:lnTo>
                <a:lnTo>
                  <a:pt x="196" y="715"/>
                </a:lnTo>
                <a:lnTo>
                  <a:pt x="195" y="710"/>
                </a:lnTo>
                <a:lnTo>
                  <a:pt x="195" y="703"/>
                </a:lnTo>
                <a:lnTo>
                  <a:pt x="195" y="697"/>
                </a:lnTo>
                <a:lnTo>
                  <a:pt x="196" y="692"/>
                </a:lnTo>
                <a:lnTo>
                  <a:pt x="198" y="685"/>
                </a:lnTo>
                <a:lnTo>
                  <a:pt x="200" y="680"/>
                </a:lnTo>
                <a:lnTo>
                  <a:pt x="203" y="674"/>
                </a:lnTo>
                <a:lnTo>
                  <a:pt x="206" y="670"/>
                </a:lnTo>
                <a:lnTo>
                  <a:pt x="209" y="665"/>
                </a:lnTo>
                <a:lnTo>
                  <a:pt x="212" y="661"/>
                </a:lnTo>
                <a:lnTo>
                  <a:pt x="216" y="657"/>
                </a:lnTo>
                <a:lnTo>
                  <a:pt x="222" y="653"/>
                </a:lnTo>
                <a:lnTo>
                  <a:pt x="226" y="651"/>
                </a:lnTo>
                <a:lnTo>
                  <a:pt x="231" y="648"/>
                </a:lnTo>
                <a:lnTo>
                  <a:pt x="237" y="646"/>
                </a:lnTo>
                <a:lnTo>
                  <a:pt x="243" y="645"/>
                </a:lnTo>
                <a:lnTo>
                  <a:pt x="249" y="643"/>
                </a:lnTo>
                <a:lnTo>
                  <a:pt x="255" y="643"/>
                </a:lnTo>
                <a:lnTo>
                  <a:pt x="261" y="643"/>
                </a:lnTo>
                <a:lnTo>
                  <a:pt x="267" y="645"/>
                </a:lnTo>
                <a:lnTo>
                  <a:pt x="273" y="646"/>
                </a:lnTo>
                <a:lnTo>
                  <a:pt x="278" y="648"/>
                </a:lnTo>
                <a:lnTo>
                  <a:pt x="284" y="651"/>
                </a:lnTo>
                <a:lnTo>
                  <a:pt x="288" y="653"/>
                </a:lnTo>
                <a:lnTo>
                  <a:pt x="293" y="657"/>
                </a:lnTo>
                <a:lnTo>
                  <a:pt x="298" y="661"/>
                </a:lnTo>
                <a:lnTo>
                  <a:pt x="301" y="665"/>
                </a:lnTo>
                <a:lnTo>
                  <a:pt x="304" y="670"/>
                </a:lnTo>
                <a:lnTo>
                  <a:pt x="307" y="674"/>
                </a:lnTo>
                <a:lnTo>
                  <a:pt x="311" y="680"/>
                </a:lnTo>
                <a:lnTo>
                  <a:pt x="312" y="685"/>
                </a:lnTo>
                <a:lnTo>
                  <a:pt x="314" y="692"/>
                </a:lnTo>
                <a:lnTo>
                  <a:pt x="315" y="697"/>
                </a:lnTo>
                <a:lnTo>
                  <a:pt x="315" y="703"/>
                </a:lnTo>
                <a:lnTo>
                  <a:pt x="315" y="710"/>
                </a:lnTo>
                <a:lnTo>
                  <a:pt x="314" y="715"/>
                </a:lnTo>
                <a:lnTo>
                  <a:pt x="312" y="720"/>
                </a:lnTo>
                <a:lnTo>
                  <a:pt x="311" y="727"/>
                </a:lnTo>
                <a:lnTo>
                  <a:pt x="307" y="731"/>
                </a:lnTo>
                <a:lnTo>
                  <a:pt x="304" y="737"/>
                </a:lnTo>
                <a:lnTo>
                  <a:pt x="301" y="741"/>
                </a:lnTo>
                <a:lnTo>
                  <a:pt x="298" y="745"/>
                </a:lnTo>
                <a:lnTo>
                  <a:pt x="293" y="749"/>
                </a:lnTo>
                <a:lnTo>
                  <a:pt x="288" y="753"/>
                </a:lnTo>
                <a:lnTo>
                  <a:pt x="284" y="756"/>
                </a:lnTo>
                <a:lnTo>
                  <a:pt x="278" y="758"/>
                </a:lnTo>
                <a:lnTo>
                  <a:pt x="273" y="760"/>
                </a:lnTo>
                <a:lnTo>
                  <a:pt x="267" y="762"/>
                </a:lnTo>
                <a:lnTo>
                  <a:pt x="261" y="762"/>
                </a:lnTo>
                <a:lnTo>
                  <a:pt x="255" y="763"/>
                </a:lnTo>
                <a:close/>
                <a:moveTo>
                  <a:pt x="883" y="0"/>
                </a:moveTo>
                <a:lnTo>
                  <a:pt x="15" y="0"/>
                </a:lnTo>
                <a:lnTo>
                  <a:pt x="13" y="0"/>
                </a:lnTo>
                <a:lnTo>
                  <a:pt x="10" y="2"/>
                </a:lnTo>
                <a:lnTo>
                  <a:pt x="8" y="3"/>
                </a:lnTo>
                <a:lnTo>
                  <a:pt x="6" y="5"/>
                </a:lnTo>
                <a:lnTo>
                  <a:pt x="3" y="7"/>
                </a:lnTo>
                <a:lnTo>
                  <a:pt x="2" y="10"/>
                </a:lnTo>
                <a:lnTo>
                  <a:pt x="1" y="12"/>
                </a:lnTo>
                <a:lnTo>
                  <a:pt x="0" y="15"/>
                </a:lnTo>
                <a:lnTo>
                  <a:pt x="0" y="883"/>
                </a:lnTo>
                <a:lnTo>
                  <a:pt x="1" y="886"/>
                </a:lnTo>
                <a:lnTo>
                  <a:pt x="2" y="888"/>
                </a:lnTo>
                <a:lnTo>
                  <a:pt x="3" y="892"/>
                </a:lnTo>
                <a:lnTo>
                  <a:pt x="6" y="894"/>
                </a:lnTo>
                <a:lnTo>
                  <a:pt x="8" y="895"/>
                </a:lnTo>
                <a:lnTo>
                  <a:pt x="10" y="897"/>
                </a:lnTo>
                <a:lnTo>
                  <a:pt x="13" y="897"/>
                </a:lnTo>
                <a:lnTo>
                  <a:pt x="15" y="898"/>
                </a:lnTo>
                <a:lnTo>
                  <a:pt x="883" y="898"/>
                </a:lnTo>
                <a:lnTo>
                  <a:pt x="886" y="897"/>
                </a:lnTo>
                <a:lnTo>
                  <a:pt x="888" y="897"/>
                </a:lnTo>
                <a:lnTo>
                  <a:pt x="892" y="895"/>
                </a:lnTo>
                <a:lnTo>
                  <a:pt x="894" y="894"/>
                </a:lnTo>
                <a:lnTo>
                  <a:pt x="896" y="892"/>
                </a:lnTo>
                <a:lnTo>
                  <a:pt x="897" y="888"/>
                </a:lnTo>
                <a:lnTo>
                  <a:pt x="898" y="886"/>
                </a:lnTo>
                <a:lnTo>
                  <a:pt x="898" y="883"/>
                </a:lnTo>
                <a:lnTo>
                  <a:pt x="898" y="15"/>
                </a:lnTo>
                <a:lnTo>
                  <a:pt x="898" y="12"/>
                </a:lnTo>
                <a:lnTo>
                  <a:pt x="897" y="10"/>
                </a:lnTo>
                <a:lnTo>
                  <a:pt x="896" y="7"/>
                </a:lnTo>
                <a:lnTo>
                  <a:pt x="894" y="5"/>
                </a:lnTo>
                <a:lnTo>
                  <a:pt x="892" y="3"/>
                </a:lnTo>
                <a:lnTo>
                  <a:pt x="888" y="2"/>
                </a:lnTo>
                <a:lnTo>
                  <a:pt x="886" y="0"/>
                </a:lnTo>
                <a:lnTo>
                  <a:pt x="883"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p:txBody>
      </p:sp>
      <p:pic>
        <p:nvPicPr>
          <p:cNvPr id="160" name="Google Shape;160;p5" descr="Facultad - Arquitectura"/>
          <p:cNvPicPr preferRelativeResize="0"/>
          <p:nvPr/>
        </p:nvPicPr>
        <p:blipFill rotWithShape="1">
          <a:blip r:embed="rId3">
            <a:alphaModFix/>
          </a:blip>
          <a:srcRect/>
          <a:stretch/>
        </p:blipFill>
        <p:spPr>
          <a:xfrm>
            <a:off x="45855" y="25740"/>
            <a:ext cx="1997257" cy="1987271"/>
          </a:xfrm>
          <a:prstGeom prst="rect">
            <a:avLst/>
          </a:prstGeom>
          <a:noFill/>
          <a:ln>
            <a:noFill/>
          </a:ln>
        </p:spPr>
      </p:pic>
      <p:sp>
        <p:nvSpPr>
          <p:cNvPr id="161" name="Google Shape;161;p5"/>
          <p:cNvSpPr/>
          <p:nvPr/>
        </p:nvSpPr>
        <p:spPr>
          <a:xfrm>
            <a:off x="7248525" y="4850175"/>
            <a:ext cx="4573200" cy="741000"/>
          </a:xfrm>
          <a:prstGeom prst="roundRect">
            <a:avLst>
              <a:gd name="adj" fmla="val 50000"/>
            </a:avLst>
          </a:prstGeom>
          <a:solidFill>
            <a:schemeClr val="accent4"/>
          </a:solidFill>
          <a:ln>
            <a:noFill/>
          </a:ln>
        </p:spPr>
        <p:txBody>
          <a:bodyPr spcFirstLastPara="1" wrap="square" lIns="91425" tIns="45700" rIns="91425" bIns="45700" anchor="ctr" anchorCtr="0">
            <a:noAutofit/>
          </a:bodyPr>
          <a:lstStyle/>
          <a:p>
            <a:pPr marL="457200" lvl="0" indent="0" algn="l" rtl="0">
              <a:lnSpc>
                <a:spcPct val="150000"/>
              </a:lnSpc>
              <a:spcBef>
                <a:spcPts val="0"/>
              </a:spcBef>
              <a:spcAft>
                <a:spcPts val="0"/>
              </a:spcAft>
              <a:buNone/>
            </a:pPr>
            <a:r>
              <a:rPr lang="es-ES">
                <a:solidFill>
                  <a:schemeClr val="lt1"/>
                </a:solidFill>
                <a:latin typeface="Quattrocento Sans"/>
                <a:ea typeface="Quattrocento Sans"/>
                <a:cs typeface="Quattrocento Sans"/>
                <a:sym typeface="Quattrocento Sans"/>
              </a:rPr>
              <a:t>        Eficiencia y coordinación del personal</a:t>
            </a:r>
            <a:endParaRPr>
              <a:solidFill>
                <a:schemeClr val="lt1"/>
              </a:solidFill>
              <a:latin typeface="Quattrocento Sans"/>
              <a:ea typeface="Quattrocento Sans"/>
              <a:cs typeface="Quattrocento Sans"/>
              <a:sym typeface="Quattrocento Sans"/>
            </a:endParaRPr>
          </a:p>
        </p:txBody>
      </p:sp>
      <p:sp>
        <p:nvSpPr>
          <p:cNvPr id="162" name="Google Shape;162;p5"/>
          <p:cNvSpPr/>
          <p:nvPr/>
        </p:nvSpPr>
        <p:spPr>
          <a:xfrm>
            <a:off x="7137400" y="4750776"/>
            <a:ext cx="939900" cy="939900"/>
          </a:xfrm>
          <a:prstGeom prst="ellipse">
            <a:avLst/>
          </a:prstGeom>
          <a:solidFill>
            <a:srgbClr val="CA7A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grpSp>
        <p:nvGrpSpPr>
          <p:cNvPr id="163" name="Google Shape;163;p5" descr="Icono de ser humano y engranaje. "/>
          <p:cNvGrpSpPr/>
          <p:nvPr/>
        </p:nvGrpSpPr>
        <p:grpSpPr>
          <a:xfrm>
            <a:off x="7438259" y="5050668"/>
            <a:ext cx="338072" cy="339995"/>
            <a:chOff x="6450013" y="5349875"/>
            <a:chExt cx="279399" cy="280988"/>
          </a:xfrm>
        </p:grpSpPr>
        <p:sp>
          <p:nvSpPr>
            <p:cNvPr id="164" name="Google Shape;164;p5"/>
            <p:cNvSpPr/>
            <p:nvPr/>
          </p:nvSpPr>
          <p:spPr>
            <a:xfrm>
              <a:off x="6450013" y="5349875"/>
              <a:ext cx="182562" cy="238126"/>
            </a:xfrm>
            <a:custGeom>
              <a:avLst/>
              <a:gdLst/>
              <a:ahLst/>
              <a:cxnLst/>
              <a:rect l="l" t="t" r="r" b="b"/>
              <a:pathLst>
                <a:path w="459" h="602" extrusionOk="0">
                  <a:moveTo>
                    <a:pt x="352" y="577"/>
                  </a:moveTo>
                  <a:lnTo>
                    <a:pt x="380" y="560"/>
                  </a:lnTo>
                  <a:lnTo>
                    <a:pt x="379" y="550"/>
                  </a:lnTo>
                  <a:lnTo>
                    <a:pt x="379" y="540"/>
                  </a:lnTo>
                  <a:lnTo>
                    <a:pt x="379" y="530"/>
                  </a:lnTo>
                  <a:lnTo>
                    <a:pt x="380" y="519"/>
                  </a:lnTo>
                  <a:lnTo>
                    <a:pt x="352" y="503"/>
                  </a:lnTo>
                  <a:lnTo>
                    <a:pt x="348" y="499"/>
                  </a:lnTo>
                  <a:lnTo>
                    <a:pt x="345" y="495"/>
                  </a:lnTo>
                  <a:lnTo>
                    <a:pt x="345" y="490"/>
                  </a:lnTo>
                  <a:lnTo>
                    <a:pt x="346" y="486"/>
                  </a:lnTo>
                  <a:lnTo>
                    <a:pt x="397" y="400"/>
                  </a:lnTo>
                  <a:lnTo>
                    <a:pt x="399" y="397"/>
                  </a:lnTo>
                  <a:lnTo>
                    <a:pt x="403" y="395"/>
                  </a:lnTo>
                  <a:lnTo>
                    <a:pt x="408" y="395"/>
                  </a:lnTo>
                  <a:lnTo>
                    <a:pt x="413" y="396"/>
                  </a:lnTo>
                  <a:lnTo>
                    <a:pt x="441" y="413"/>
                  </a:lnTo>
                  <a:lnTo>
                    <a:pt x="450" y="406"/>
                  </a:lnTo>
                  <a:lnTo>
                    <a:pt x="459" y="401"/>
                  </a:lnTo>
                  <a:lnTo>
                    <a:pt x="424" y="388"/>
                  </a:lnTo>
                  <a:lnTo>
                    <a:pt x="412" y="384"/>
                  </a:lnTo>
                  <a:lnTo>
                    <a:pt x="400" y="379"/>
                  </a:lnTo>
                  <a:lnTo>
                    <a:pt x="389" y="375"/>
                  </a:lnTo>
                  <a:lnTo>
                    <a:pt x="376" y="370"/>
                  </a:lnTo>
                  <a:lnTo>
                    <a:pt x="368" y="368"/>
                  </a:lnTo>
                  <a:lnTo>
                    <a:pt x="361" y="364"/>
                  </a:lnTo>
                  <a:lnTo>
                    <a:pt x="361" y="307"/>
                  </a:lnTo>
                  <a:lnTo>
                    <a:pt x="366" y="302"/>
                  </a:lnTo>
                  <a:lnTo>
                    <a:pt x="372" y="297"/>
                  </a:lnTo>
                  <a:lnTo>
                    <a:pt x="379" y="288"/>
                  </a:lnTo>
                  <a:lnTo>
                    <a:pt x="385" y="279"/>
                  </a:lnTo>
                  <a:lnTo>
                    <a:pt x="391" y="266"/>
                  </a:lnTo>
                  <a:lnTo>
                    <a:pt x="397" y="252"/>
                  </a:lnTo>
                  <a:lnTo>
                    <a:pt x="400" y="235"/>
                  </a:lnTo>
                  <a:lnTo>
                    <a:pt x="402" y="216"/>
                  </a:lnTo>
                  <a:lnTo>
                    <a:pt x="406" y="214"/>
                  </a:lnTo>
                  <a:lnTo>
                    <a:pt x="409" y="211"/>
                  </a:lnTo>
                  <a:lnTo>
                    <a:pt x="412" y="207"/>
                  </a:lnTo>
                  <a:lnTo>
                    <a:pt x="415" y="202"/>
                  </a:lnTo>
                  <a:lnTo>
                    <a:pt x="417" y="197"/>
                  </a:lnTo>
                  <a:lnTo>
                    <a:pt x="418" y="191"/>
                  </a:lnTo>
                  <a:lnTo>
                    <a:pt x="420" y="183"/>
                  </a:lnTo>
                  <a:lnTo>
                    <a:pt x="420" y="175"/>
                  </a:lnTo>
                  <a:lnTo>
                    <a:pt x="420" y="164"/>
                  </a:lnTo>
                  <a:lnTo>
                    <a:pt x="416" y="152"/>
                  </a:lnTo>
                  <a:lnTo>
                    <a:pt x="412" y="144"/>
                  </a:lnTo>
                  <a:lnTo>
                    <a:pt x="406" y="137"/>
                  </a:lnTo>
                  <a:lnTo>
                    <a:pt x="412" y="121"/>
                  </a:lnTo>
                  <a:lnTo>
                    <a:pt x="417" y="101"/>
                  </a:lnTo>
                  <a:lnTo>
                    <a:pt x="420" y="89"/>
                  </a:lnTo>
                  <a:lnTo>
                    <a:pt x="420" y="78"/>
                  </a:lnTo>
                  <a:lnTo>
                    <a:pt x="420" y="65"/>
                  </a:lnTo>
                  <a:lnTo>
                    <a:pt x="417" y="53"/>
                  </a:lnTo>
                  <a:lnTo>
                    <a:pt x="415" y="45"/>
                  </a:lnTo>
                  <a:lnTo>
                    <a:pt x="412" y="39"/>
                  </a:lnTo>
                  <a:lnTo>
                    <a:pt x="407" y="34"/>
                  </a:lnTo>
                  <a:lnTo>
                    <a:pt x="403" y="27"/>
                  </a:lnTo>
                  <a:lnTo>
                    <a:pt x="397" y="24"/>
                  </a:lnTo>
                  <a:lnTo>
                    <a:pt x="390" y="18"/>
                  </a:lnTo>
                  <a:lnTo>
                    <a:pt x="382" y="15"/>
                  </a:lnTo>
                  <a:lnTo>
                    <a:pt x="376" y="12"/>
                  </a:lnTo>
                  <a:lnTo>
                    <a:pt x="359" y="7"/>
                  </a:lnTo>
                  <a:lnTo>
                    <a:pt x="341" y="3"/>
                  </a:lnTo>
                  <a:lnTo>
                    <a:pt x="325" y="0"/>
                  </a:lnTo>
                  <a:lnTo>
                    <a:pt x="307" y="0"/>
                  </a:lnTo>
                  <a:lnTo>
                    <a:pt x="291" y="0"/>
                  </a:lnTo>
                  <a:lnTo>
                    <a:pt x="276" y="2"/>
                  </a:lnTo>
                  <a:lnTo>
                    <a:pt x="260" y="6"/>
                  </a:lnTo>
                  <a:lnTo>
                    <a:pt x="245" y="9"/>
                  </a:lnTo>
                  <a:lnTo>
                    <a:pt x="231" y="16"/>
                  </a:lnTo>
                  <a:lnTo>
                    <a:pt x="218" y="22"/>
                  </a:lnTo>
                  <a:lnTo>
                    <a:pt x="213" y="27"/>
                  </a:lnTo>
                  <a:lnTo>
                    <a:pt x="209" y="31"/>
                  </a:lnTo>
                  <a:lnTo>
                    <a:pt x="204" y="36"/>
                  </a:lnTo>
                  <a:lnTo>
                    <a:pt x="201" y="42"/>
                  </a:lnTo>
                  <a:lnTo>
                    <a:pt x="194" y="42"/>
                  </a:lnTo>
                  <a:lnTo>
                    <a:pt x="187" y="43"/>
                  </a:lnTo>
                  <a:lnTo>
                    <a:pt x="181" y="44"/>
                  </a:lnTo>
                  <a:lnTo>
                    <a:pt x="176" y="45"/>
                  </a:lnTo>
                  <a:lnTo>
                    <a:pt x="168" y="51"/>
                  </a:lnTo>
                  <a:lnTo>
                    <a:pt x="163" y="56"/>
                  </a:lnTo>
                  <a:lnTo>
                    <a:pt x="158" y="65"/>
                  </a:lnTo>
                  <a:lnTo>
                    <a:pt x="155" y="75"/>
                  </a:lnTo>
                  <a:lnTo>
                    <a:pt x="155" y="87"/>
                  </a:lnTo>
                  <a:lnTo>
                    <a:pt x="155" y="98"/>
                  </a:lnTo>
                  <a:lnTo>
                    <a:pt x="159" y="120"/>
                  </a:lnTo>
                  <a:lnTo>
                    <a:pt x="164" y="138"/>
                  </a:lnTo>
                  <a:lnTo>
                    <a:pt x="164" y="139"/>
                  </a:lnTo>
                  <a:lnTo>
                    <a:pt x="164" y="139"/>
                  </a:lnTo>
                  <a:lnTo>
                    <a:pt x="159" y="144"/>
                  </a:lnTo>
                  <a:lnTo>
                    <a:pt x="154" y="151"/>
                  </a:lnTo>
                  <a:lnTo>
                    <a:pt x="151" y="156"/>
                  </a:lnTo>
                  <a:lnTo>
                    <a:pt x="150" y="162"/>
                  </a:lnTo>
                  <a:lnTo>
                    <a:pt x="149" y="170"/>
                  </a:lnTo>
                  <a:lnTo>
                    <a:pt x="149" y="176"/>
                  </a:lnTo>
                  <a:lnTo>
                    <a:pt x="149" y="184"/>
                  </a:lnTo>
                  <a:lnTo>
                    <a:pt x="150" y="191"/>
                  </a:lnTo>
                  <a:lnTo>
                    <a:pt x="151" y="196"/>
                  </a:lnTo>
                  <a:lnTo>
                    <a:pt x="154" y="201"/>
                  </a:lnTo>
                  <a:lnTo>
                    <a:pt x="156" y="206"/>
                  </a:lnTo>
                  <a:lnTo>
                    <a:pt x="159" y="210"/>
                  </a:lnTo>
                  <a:lnTo>
                    <a:pt x="163" y="214"/>
                  </a:lnTo>
                  <a:lnTo>
                    <a:pt x="167" y="216"/>
                  </a:lnTo>
                  <a:lnTo>
                    <a:pt x="168" y="227"/>
                  </a:lnTo>
                  <a:lnTo>
                    <a:pt x="169" y="237"/>
                  </a:lnTo>
                  <a:lnTo>
                    <a:pt x="172" y="246"/>
                  </a:lnTo>
                  <a:lnTo>
                    <a:pt x="174" y="255"/>
                  </a:lnTo>
                  <a:lnTo>
                    <a:pt x="179" y="271"/>
                  </a:lnTo>
                  <a:lnTo>
                    <a:pt x="187" y="286"/>
                  </a:lnTo>
                  <a:lnTo>
                    <a:pt x="195" y="297"/>
                  </a:lnTo>
                  <a:lnTo>
                    <a:pt x="203" y="306"/>
                  </a:lnTo>
                  <a:lnTo>
                    <a:pt x="210" y="314"/>
                  </a:lnTo>
                  <a:lnTo>
                    <a:pt x="215" y="319"/>
                  </a:lnTo>
                  <a:lnTo>
                    <a:pt x="215" y="364"/>
                  </a:lnTo>
                  <a:lnTo>
                    <a:pt x="201" y="369"/>
                  </a:lnTo>
                  <a:lnTo>
                    <a:pt x="186" y="375"/>
                  </a:lnTo>
                  <a:lnTo>
                    <a:pt x="171" y="381"/>
                  </a:lnTo>
                  <a:lnTo>
                    <a:pt x="155" y="384"/>
                  </a:lnTo>
                  <a:lnTo>
                    <a:pt x="129" y="393"/>
                  </a:lnTo>
                  <a:lnTo>
                    <a:pt x="106" y="401"/>
                  </a:lnTo>
                  <a:lnTo>
                    <a:pt x="83" y="410"/>
                  </a:lnTo>
                  <a:lnTo>
                    <a:pt x="64" y="419"/>
                  </a:lnTo>
                  <a:lnTo>
                    <a:pt x="46" y="428"/>
                  </a:lnTo>
                  <a:lnTo>
                    <a:pt x="32" y="438"/>
                  </a:lnTo>
                  <a:lnTo>
                    <a:pt x="27" y="444"/>
                  </a:lnTo>
                  <a:lnTo>
                    <a:pt x="22" y="449"/>
                  </a:lnTo>
                  <a:lnTo>
                    <a:pt x="18" y="455"/>
                  </a:lnTo>
                  <a:lnTo>
                    <a:pt x="15" y="460"/>
                  </a:lnTo>
                  <a:lnTo>
                    <a:pt x="10" y="479"/>
                  </a:lnTo>
                  <a:lnTo>
                    <a:pt x="6" y="499"/>
                  </a:lnTo>
                  <a:lnTo>
                    <a:pt x="4" y="521"/>
                  </a:lnTo>
                  <a:lnTo>
                    <a:pt x="2" y="540"/>
                  </a:lnTo>
                  <a:lnTo>
                    <a:pt x="0" y="573"/>
                  </a:lnTo>
                  <a:lnTo>
                    <a:pt x="0" y="589"/>
                  </a:lnTo>
                  <a:lnTo>
                    <a:pt x="1" y="594"/>
                  </a:lnTo>
                  <a:lnTo>
                    <a:pt x="4" y="598"/>
                  </a:lnTo>
                  <a:lnTo>
                    <a:pt x="7" y="600"/>
                  </a:lnTo>
                  <a:lnTo>
                    <a:pt x="11" y="602"/>
                  </a:lnTo>
                  <a:lnTo>
                    <a:pt x="350" y="602"/>
                  </a:lnTo>
                  <a:lnTo>
                    <a:pt x="346" y="594"/>
                  </a:lnTo>
                  <a:lnTo>
                    <a:pt x="345" y="589"/>
                  </a:lnTo>
                  <a:lnTo>
                    <a:pt x="345" y="585"/>
                  </a:lnTo>
                  <a:lnTo>
                    <a:pt x="348" y="581"/>
                  </a:lnTo>
                  <a:lnTo>
                    <a:pt x="352" y="577"/>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p:txBody>
        </p:sp>
        <p:sp>
          <p:nvSpPr>
            <p:cNvPr id="165" name="Google Shape;165;p5"/>
            <p:cNvSpPr/>
            <p:nvPr/>
          </p:nvSpPr>
          <p:spPr>
            <a:xfrm>
              <a:off x="6597650" y="5497513"/>
              <a:ext cx="131762" cy="133350"/>
            </a:xfrm>
            <a:custGeom>
              <a:avLst/>
              <a:gdLst/>
              <a:ahLst/>
              <a:cxnLst/>
              <a:rect l="l" t="t" r="r" b="b"/>
              <a:pathLst>
                <a:path w="332" h="336" extrusionOk="0">
                  <a:moveTo>
                    <a:pt x="166" y="245"/>
                  </a:moveTo>
                  <a:lnTo>
                    <a:pt x="158" y="244"/>
                  </a:lnTo>
                  <a:lnTo>
                    <a:pt x="151" y="243"/>
                  </a:lnTo>
                  <a:lnTo>
                    <a:pt x="143" y="241"/>
                  </a:lnTo>
                  <a:lnTo>
                    <a:pt x="135" y="239"/>
                  </a:lnTo>
                  <a:lnTo>
                    <a:pt x="129" y="235"/>
                  </a:lnTo>
                  <a:lnTo>
                    <a:pt x="122" y="231"/>
                  </a:lnTo>
                  <a:lnTo>
                    <a:pt x="116" y="227"/>
                  </a:lnTo>
                  <a:lnTo>
                    <a:pt x="111" y="222"/>
                  </a:lnTo>
                  <a:lnTo>
                    <a:pt x="106" y="217"/>
                  </a:lnTo>
                  <a:lnTo>
                    <a:pt x="101" y="211"/>
                  </a:lnTo>
                  <a:lnTo>
                    <a:pt x="97" y="204"/>
                  </a:lnTo>
                  <a:lnTo>
                    <a:pt x="94" y="198"/>
                  </a:lnTo>
                  <a:lnTo>
                    <a:pt x="92" y="190"/>
                  </a:lnTo>
                  <a:lnTo>
                    <a:pt x="89" y="182"/>
                  </a:lnTo>
                  <a:lnTo>
                    <a:pt x="88" y="175"/>
                  </a:lnTo>
                  <a:lnTo>
                    <a:pt x="88" y="167"/>
                  </a:lnTo>
                  <a:lnTo>
                    <a:pt x="88" y="159"/>
                  </a:lnTo>
                  <a:lnTo>
                    <a:pt x="89" y="151"/>
                  </a:lnTo>
                  <a:lnTo>
                    <a:pt x="92" y="144"/>
                  </a:lnTo>
                  <a:lnTo>
                    <a:pt x="94" y="136"/>
                  </a:lnTo>
                  <a:lnTo>
                    <a:pt x="97" y="130"/>
                  </a:lnTo>
                  <a:lnTo>
                    <a:pt x="101" y="123"/>
                  </a:lnTo>
                  <a:lnTo>
                    <a:pt x="106" y="117"/>
                  </a:lnTo>
                  <a:lnTo>
                    <a:pt x="111" y="112"/>
                  </a:lnTo>
                  <a:lnTo>
                    <a:pt x="116" y="106"/>
                  </a:lnTo>
                  <a:lnTo>
                    <a:pt x="122" y="103"/>
                  </a:lnTo>
                  <a:lnTo>
                    <a:pt x="129" y="99"/>
                  </a:lnTo>
                  <a:lnTo>
                    <a:pt x="135" y="95"/>
                  </a:lnTo>
                  <a:lnTo>
                    <a:pt x="143" y="92"/>
                  </a:lnTo>
                  <a:lnTo>
                    <a:pt x="151" y="90"/>
                  </a:lnTo>
                  <a:lnTo>
                    <a:pt x="158" y="90"/>
                  </a:lnTo>
                  <a:lnTo>
                    <a:pt x="166" y="89"/>
                  </a:lnTo>
                  <a:lnTo>
                    <a:pt x="174" y="90"/>
                  </a:lnTo>
                  <a:lnTo>
                    <a:pt x="181" y="90"/>
                  </a:lnTo>
                  <a:lnTo>
                    <a:pt x="189" y="92"/>
                  </a:lnTo>
                  <a:lnTo>
                    <a:pt x="196" y="95"/>
                  </a:lnTo>
                  <a:lnTo>
                    <a:pt x="203" y="99"/>
                  </a:lnTo>
                  <a:lnTo>
                    <a:pt x="210" y="103"/>
                  </a:lnTo>
                  <a:lnTo>
                    <a:pt x="215" y="106"/>
                  </a:lnTo>
                  <a:lnTo>
                    <a:pt x="221" y="112"/>
                  </a:lnTo>
                  <a:lnTo>
                    <a:pt x="226" y="117"/>
                  </a:lnTo>
                  <a:lnTo>
                    <a:pt x="230" y="123"/>
                  </a:lnTo>
                  <a:lnTo>
                    <a:pt x="234" y="130"/>
                  </a:lnTo>
                  <a:lnTo>
                    <a:pt x="238" y="136"/>
                  </a:lnTo>
                  <a:lnTo>
                    <a:pt x="241" y="144"/>
                  </a:lnTo>
                  <a:lnTo>
                    <a:pt x="242" y="151"/>
                  </a:lnTo>
                  <a:lnTo>
                    <a:pt x="243" y="159"/>
                  </a:lnTo>
                  <a:lnTo>
                    <a:pt x="244" y="167"/>
                  </a:lnTo>
                  <a:lnTo>
                    <a:pt x="243" y="175"/>
                  </a:lnTo>
                  <a:lnTo>
                    <a:pt x="242" y="182"/>
                  </a:lnTo>
                  <a:lnTo>
                    <a:pt x="241" y="190"/>
                  </a:lnTo>
                  <a:lnTo>
                    <a:pt x="238" y="198"/>
                  </a:lnTo>
                  <a:lnTo>
                    <a:pt x="234" y="204"/>
                  </a:lnTo>
                  <a:lnTo>
                    <a:pt x="230" y="211"/>
                  </a:lnTo>
                  <a:lnTo>
                    <a:pt x="226" y="217"/>
                  </a:lnTo>
                  <a:lnTo>
                    <a:pt x="221" y="222"/>
                  </a:lnTo>
                  <a:lnTo>
                    <a:pt x="215" y="227"/>
                  </a:lnTo>
                  <a:lnTo>
                    <a:pt x="210" y="231"/>
                  </a:lnTo>
                  <a:lnTo>
                    <a:pt x="203" y="235"/>
                  </a:lnTo>
                  <a:lnTo>
                    <a:pt x="196" y="239"/>
                  </a:lnTo>
                  <a:lnTo>
                    <a:pt x="189" y="241"/>
                  </a:lnTo>
                  <a:lnTo>
                    <a:pt x="181" y="243"/>
                  </a:lnTo>
                  <a:lnTo>
                    <a:pt x="174" y="244"/>
                  </a:lnTo>
                  <a:lnTo>
                    <a:pt x="166" y="245"/>
                  </a:lnTo>
                  <a:close/>
                  <a:moveTo>
                    <a:pt x="306" y="204"/>
                  </a:moveTo>
                  <a:lnTo>
                    <a:pt x="302" y="202"/>
                  </a:lnTo>
                  <a:lnTo>
                    <a:pt x="301" y="199"/>
                  </a:lnTo>
                  <a:lnTo>
                    <a:pt x="300" y="195"/>
                  </a:lnTo>
                  <a:lnTo>
                    <a:pt x="300" y="191"/>
                  </a:lnTo>
                  <a:lnTo>
                    <a:pt x="302" y="180"/>
                  </a:lnTo>
                  <a:lnTo>
                    <a:pt x="302" y="167"/>
                  </a:lnTo>
                  <a:lnTo>
                    <a:pt x="302" y="154"/>
                  </a:lnTo>
                  <a:lnTo>
                    <a:pt x="300" y="142"/>
                  </a:lnTo>
                  <a:lnTo>
                    <a:pt x="300" y="139"/>
                  </a:lnTo>
                  <a:lnTo>
                    <a:pt x="301" y="135"/>
                  </a:lnTo>
                  <a:lnTo>
                    <a:pt x="302" y="132"/>
                  </a:lnTo>
                  <a:lnTo>
                    <a:pt x="306" y="130"/>
                  </a:lnTo>
                  <a:lnTo>
                    <a:pt x="332" y="114"/>
                  </a:lnTo>
                  <a:lnTo>
                    <a:pt x="293" y="50"/>
                  </a:lnTo>
                  <a:lnTo>
                    <a:pt x="269" y="64"/>
                  </a:lnTo>
                  <a:lnTo>
                    <a:pt x="265" y="65"/>
                  </a:lnTo>
                  <a:lnTo>
                    <a:pt x="261" y="65"/>
                  </a:lnTo>
                  <a:lnTo>
                    <a:pt x="257" y="65"/>
                  </a:lnTo>
                  <a:lnTo>
                    <a:pt x="255" y="63"/>
                  </a:lnTo>
                  <a:lnTo>
                    <a:pt x="251" y="59"/>
                  </a:lnTo>
                  <a:lnTo>
                    <a:pt x="242" y="53"/>
                  </a:lnTo>
                  <a:lnTo>
                    <a:pt x="233" y="45"/>
                  </a:lnTo>
                  <a:lnTo>
                    <a:pt x="224" y="40"/>
                  </a:lnTo>
                  <a:lnTo>
                    <a:pt x="215" y="35"/>
                  </a:lnTo>
                  <a:lnTo>
                    <a:pt x="211" y="33"/>
                  </a:lnTo>
                  <a:lnTo>
                    <a:pt x="208" y="31"/>
                  </a:lnTo>
                  <a:lnTo>
                    <a:pt x="207" y="27"/>
                  </a:lnTo>
                  <a:lnTo>
                    <a:pt x="207" y="24"/>
                  </a:lnTo>
                  <a:lnTo>
                    <a:pt x="207" y="0"/>
                  </a:lnTo>
                  <a:lnTo>
                    <a:pt x="135" y="0"/>
                  </a:lnTo>
                  <a:lnTo>
                    <a:pt x="135" y="24"/>
                  </a:lnTo>
                  <a:lnTo>
                    <a:pt x="134" y="27"/>
                  </a:lnTo>
                  <a:lnTo>
                    <a:pt x="133" y="31"/>
                  </a:lnTo>
                  <a:lnTo>
                    <a:pt x="130" y="33"/>
                  </a:lnTo>
                  <a:lnTo>
                    <a:pt x="126" y="35"/>
                  </a:lnTo>
                  <a:lnTo>
                    <a:pt x="113" y="41"/>
                  </a:lnTo>
                  <a:lnTo>
                    <a:pt x="101" y="47"/>
                  </a:lnTo>
                  <a:lnTo>
                    <a:pt x="88" y="55"/>
                  </a:lnTo>
                  <a:lnTo>
                    <a:pt x="77" y="63"/>
                  </a:lnTo>
                  <a:lnTo>
                    <a:pt x="75" y="65"/>
                  </a:lnTo>
                  <a:lnTo>
                    <a:pt x="71" y="65"/>
                  </a:lnTo>
                  <a:lnTo>
                    <a:pt x="67" y="65"/>
                  </a:lnTo>
                  <a:lnTo>
                    <a:pt x="63" y="64"/>
                  </a:lnTo>
                  <a:lnTo>
                    <a:pt x="38" y="50"/>
                  </a:lnTo>
                  <a:lnTo>
                    <a:pt x="0" y="114"/>
                  </a:lnTo>
                  <a:lnTo>
                    <a:pt x="26" y="130"/>
                  </a:lnTo>
                  <a:lnTo>
                    <a:pt x="29" y="132"/>
                  </a:lnTo>
                  <a:lnTo>
                    <a:pt x="31" y="135"/>
                  </a:lnTo>
                  <a:lnTo>
                    <a:pt x="33" y="139"/>
                  </a:lnTo>
                  <a:lnTo>
                    <a:pt x="31" y="142"/>
                  </a:lnTo>
                  <a:lnTo>
                    <a:pt x="30" y="154"/>
                  </a:lnTo>
                  <a:lnTo>
                    <a:pt x="30" y="167"/>
                  </a:lnTo>
                  <a:lnTo>
                    <a:pt x="30" y="178"/>
                  </a:lnTo>
                  <a:lnTo>
                    <a:pt x="31" y="191"/>
                  </a:lnTo>
                  <a:lnTo>
                    <a:pt x="33" y="195"/>
                  </a:lnTo>
                  <a:lnTo>
                    <a:pt x="31" y="199"/>
                  </a:lnTo>
                  <a:lnTo>
                    <a:pt x="29" y="202"/>
                  </a:lnTo>
                  <a:lnTo>
                    <a:pt x="26" y="204"/>
                  </a:lnTo>
                  <a:lnTo>
                    <a:pt x="0" y="220"/>
                  </a:lnTo>
                  <a:lnTo>
                    <a:pt x="38" y="284"/>
                  </a:lnTo>
                  <a:lnTo>
                    <a:pt x="63" y="270"/>
                  </a:lnTo>
                  <a:lnTo>
                    <a:pt x="67" y="268"/>
                  </a:lnTo>
                  <a:lnTo>
                    <a:pt x="71" y="267"/>
                  </a:lnTo>
                  <a:lnTo>
                    <a:pt x="75" y="268"/>
                  </a:lnTo>
                  <a:lnTo>
                    <a:pt x="77" y="271"/>
                  </a:lnTo>
                  <a:lnTo>
                    <a:pt x="89" y="279"/>
                  </a:lnTo>
                  <a:lnTo>
                    <a:pt x="106" y="286"/>
                  </a:lnTo>
                  <a:lnTo>
                    <a:pt x="124" y="295"/>
                  </a:lnTo>
                  <a:lnTo>
                    <a:pt x="139" y="300"/>
                  </a:lnTo>
                  <a:lnTo>
                    <a:pt x="142" y="303"/>
                  </a:lnTo>
                  <a:lnTo>
                    <a:pt x="144" y="306"/>
                  </a:lnTo>
                  <a:lnTo>
                    <a:pt x="146" y="308"/>
                  </a:lnTo>
                  <a:lnTo>
                    <a:pt x="147" y="312"/>
                  </a:lnTo>
                  <a:lnTo>
                    <a:pt x="147" y="336"/>
                  </a:lnTo>
                  <a:lnTo>
                    <a:pt x="207" y="336"/>
                  </a:lnTo>
                  <a:lnTo>
                    <a:pt x="207" y="312"/>
                  </a:lnTo>
                  <a:lnTo>
                    <a:pt x="207" y="308"/>
                  </a:lnTo>
                  <a:lnTo>
                    <a:pt x="208" y="306"/>
                  </a:lnTo>
                  <a:lnTo>
                    <a:pt x="211" y="303"/>
                  </a:lnTo>
                  <a:lnTo>
                    <a:pt x="215" y="300"/>
                  </a:lnTo>
                  <a:lnTo>
                    <a:pt x="223" y="297"/>
                  </a:lnTo>
                  <a:lnTo>
                    <a:pt x="230" y="291"/>
                  </a:lnTo>
                  <a:lnTo>
                    <a:pt x="238" y="285"/>
                  </a:lnTo>
                  <a:lnTo>
                    <a:pt x="246" y="279"/>
                  </a:lnTo>
                  <a:lnTo>
                    <a:pt x="250" y="275"/>
                  </a:lnTo>
                  <a:lnTo>
                    <a:pt x="255" y="271"/>
                  </a:lnTo>
                  <a:lnTo>
                    <a:pt x="257" y="268"/>
                  </a:lnTo>
                  <a:lnTo>
                    <a:pt x="261" y="267"/>
                  </a:lnTo>
                  <a:lnTo>
                    <a:pt x="265" y="268"/>
                  </a:lnTo>
                  <a:lnTo>
                    <a:pt x="269" y="270"/>
                  </a:lnTo>
                  <a:lnTo>
                    <a:pt x="295" y="284"/>
                  </a:lnTo>
                  <a:lnTo>
                    <a:pt x="332" y="220"/>
                  </a:lnTo>
                  <a:lnTo>
                    <a:pt x="306" y="20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0">
          <a:extLst>
            <a:ext uri="{FF2B5EF4-FFF2-40B4-BE49-F238E27FC236}">
              <a16:creationId xmlns:a16="http://schemas.microsoft.com/office/drawing/2014/main" id="{E2A8F8AB-9F68-7A04-FC44-0E18B3791E27}"/>
            </a:ext>
          </a:extLst>
        </p:cNvPr>
        <p:cNvGrpSpPr/>
        <p:nvPr/>
      </p:nvGrpSpPr>
      <p:grpSpPr>
        <a:xfrm>
          <a:off x="0" y="0"/>
          <a:ext cx="0" cy="0"/>
          <a:chOff x="0" y="0"/>
          <a:chExt cx="0" cy="0"/>
        </a:xfrm>
      </p:grpSpPr>
      <p:cxnSp>
        <p:nvCxnSpPr>
          <p:cNvPr id="171" name="Google Shape;171;g29afadbc62e_0_5">
            <a:extLst>
              <a:ext uri="{FF2B5EF4-FFF2-40B4-BE49-F238E27FC236}">
                <a16:creationId xmlns:a16="http://schemas.microsoft.com/office/drawing/2014/main" id="{11E423DB-7BFB-45F4-C91E-347BC0C417F0}"/>
              </a:ext>
            </a:extLst>
          </p:cNvPr>
          <p:cNvCxnSpPr/>
          <p:nvPr/>
        </p:nvCxnSpPr>
        <p:spPr>
          <a:xfrm>
            <a:off x="8393229" y="522898"/>
            <a:ext cx="3798900" cy="0"/>
          </a:xfrm>
          <a:prstGeom prst="straightConnector1">
            <a:avLst/>
          </a:prstGeom>
          <a:noFill/>
          <a:ln w="9525" cap="flat" cmpd="sng">
            <a:solidFill>
              <a:srgbClr val="085763"/>
            </a:solidFill>
            <a:prstDash val="solid"/>
            <a:miter lim="800000"/>
            <a:headEnd type="oval" w="med" len="med"/>
            <a:tailEnd type="none" w="sm" len="sm"/>
          </a:ln>
        </p:spPr>
      </p:cxnSp>
      <p:sp>
        <p:nvSpPr>
          <p:cNvPr id="172" name="Google Shape;172;g29afadbc62e_0_5">
            <a:extLst>
              <a:ext uri="{FF2B5EF4-FFF2-40B4-BE49-F238E27FC236}">
                <a16:creationId xmlns:a16="http://schemas.microsoft.com/office/drawing/2014/main" id="{433C697A-CA28-7D83-63E4-EE8511748935}"/>
              </a:ext>
            </a:extLst>
          </p:cNvPr>
          <p:cNvSpPr txBox="1"/>
          <p:nvPr/>
        </p:nvSpPr>
        <p:spPr>
          <a:xfrm>
            <a:off x="228600" y="135100"/>
            <a:ext cx="11734800" cy="3879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3F3F3F"/>
              </a:buClr>
              <a:buSzPts val="2800"/>
              <a:buFont typeface="Century Gothic"/>
              <a:buNone/>
            </a:pPr>
            <a:r>
              <a:rPr lang="es-ES" sz="2800" b="1" dirty="0">
                <a:solidFill>
                  <a:srgbClr val="3F3F3F"/>
                </a:solidFill>
                <a:latin typeface="Century Gothic"/>
                <a:ea typeface="Century Gothic"/>
                <a:cs typeface="Century Gothic"/>
                <a:sym typeface="Century Gothic"/>
              </a:rPr>
              <a:t>Maquetación y distribución de componentes</a:t>
            </a:r>
            <a:endParaRPr sz="2800" b="0" i="0" u="none" strike="noStrike" cap="none" dirty="0">
              <a:solidFill>
                <a:srgbClr val="3F3F3F"/>
              </a:solidFill>
              <a:latin typeface="Century Gothic"/>
              <a:ea typeface="Century Gothic"/>
              <a:cs typeface="Century Gothic"/>
              <a:sym typeface="Century Gothic"/>
            </a:endParaRPr>
          </a:p>
        </p:txBody>
      </p:sp>
      <p:cxnSp>
        <p:nvCxnSpPr>
          <p:cNvPr id="173" name="Google Shape;173;g29afadbc62e_0_5">
            <a:extLst>
              <a:ext uri="{FF2B5EF4-FFF2-40B4-BE49-F238E27FC236}">
                <a16:creationId xmlns:a16="http://schemas.microsoft.com/office/drawing/2014/main" id="{DB6C7127-FEF6-E1E2-9B24-026EB1F4CA1C}"/>
              </a:ext>
            </a:extLst>
          </p:cNvPr>
          <p:cNvCxnSpPr/>
          <p:nvPr/>
        </p:nvCxnSpPr>
        <p:spPr>
          <a:xfrm>
            <a:off x="0" y="522898"/>
            <a:ext cx="3792300" cy="0"/>
          </a:xfrm>
          <a:prstGeom prst="straightConnector1">
            <a:avLst/>
          </a:prstGeom>
          <a:noFill/>
          <a:ln w="9525" cap="flat" cmpd="sng">
            <a:solidFill>
              <a:srgbClr val="085763"/>
            </a:solidFill>
            <a:prstDash val="solid"/>
            <a:miter lim="800000"/>
            <a:headEnd type="none" w="sm" len="sm"/>
            <a:tailEnd type="oval" w="med" len="med"/>
          </a:ln>
        </p:spPr>
      </p:cxnSp>
      <p:sp>
        <p:nvSpPr>
          <p:cNvPr id="175" name="Google Shape;175;g29afadbc62e_0_5">
            <a:extLst>
              <a:ext uri="{FF2B5EF4-FFF2-40B4-BE49-F238E27FC236}">
                <a16:creationId xmlns:a16="http://schemas.microsoft.com/office/drawing/2014/main" id="{9DFB7DE1-AB84-22B9-FDF0-E60183C56155}"/>
              </a:ext>
            </a:extLst>
          </p:cNvPr>
          <p:cNvSpPr txBox="1"/>
          <p:nvPr/>
        </p:nvSpPr>
        <p:spPr>
          <a:xfrm>
            <a:off x="635362" y="231437"/>
            <a:ext cx="10551000" cy="4589974"/>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800"/>
              </a:spcBef>
              <a:spcAft>
                <a:spcPts val="0"/>
              </a:spcAft>
              <a:buClr>
                <a:schemeClr val="accent4"/>
              </a:buClr>
              <a:buSzPts val="4000"/>
              <a:buFont typeface="Century Gothic"/>
              <a:buNone/>
            </a:pP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endParaRPr sz="4400" b="0" i="0" u="none" strike="noStrike" cap="none" dirty="0">
              <a:solidFill>
                <a:schemeClr val="accent4"/>
              </a:solidFill>
              <a:latin typeface="Century Gothic"/>
              <a:ea typeface="Century Gothic"/>
              <a:cs typeface="Century Gothic"/>
              <a:sym typeface="Century Gothic"/>
            </a:endParaRPr>
          </a:p>
        </p:txBody>
      </p:sp>
      <p:pic>
        <p:nvPicPr>
          <p:cNvPr id="25" name="Imagen 24">
            <a:extLst>
              <a:ext uri="{FF2B5EF4-FFF2-40B4-BE49-F238E27FC236}">
                <a16:creationId xmlns:a16="http://schemas.microsoft.com/office/drawing/2014/main" id="{E48D1F09-5369-BBE1-7EDC-A13A40C39F97}"/>
              </a:ext>
            </a:extLst>
          </p:cNvPr>
          <p:cNvPicPr>
            <a:picLocks noChangeAspect="1"/>
          </p:cNvPicPr>
          <p:nvPr/>
        </p:nvPicPr>
        <p:blipFill>
          <a:blip r:embed="rId3"/>
          <a:stretch>
            <a:fillRect/>
          </a:stretch>
        </p:blipFill>
        <p:spPr>
          <a:xfrm>
            <a:off x="691192" y="678413"/>
            <a:ext cx="3315984" cy="4421312"/>
          </a:xfrm>
          <a:prstGeom prst="rect">
            <a:avLst/>
          </a:prstGeom>
        </p:spPr>
      </p:pic>
      <p:pic>
        <p:nvPicPr>
          <p:cNvPr id="27" name="Imagen 26">
            <a:extLst>
              <a:ext uri="{FF2B5EF4-FFF2-40B4-BE49-F238E27FC236}">
                <a16:creationId xmlns:a16="http://schemas.microsoft.com/office/drawing/2014/main" id="{ADA7D9BE-0212-ED43-9B91-D8B818E6389A}"/>
              </a:ext>
            </a:extLst>
          </p:cNvPr>
          <p:cNvPicPr>
            <a:picLocks noChangeAspect="1"/>
          </p:cNvPicPr>
          <p:nvPr/>
        </p:nvPicPr>
        <p:blipFill>
          <a:blip r:embed="rId4"/>
          <a:stretch>
            <a:fillRect/>
          </a:stretch>
        </p:blipFill>
        <p:spPr>
          <a:xfrm>
            <a:off x="4350269" y="678413"/>
            <a:ext cx="6950457" cy="5212843"/>
          </a:xfrm>
          <a:prstGeom prst="rect">
            <a:avLst/>
          </a:prstGeom>
        </p:spPr>
      </p:pic>
      <p:pic>
        <p:nvPicPr>
          <p:cNvPr id="174" name="Google Shape;174;g29afadbc62e_0_5" descr="Facultad - Arquitectura">
            <a:extLst>
              <a:ext uri="{FF2B5EF4-FFF2-40B4-BE49-F238E27FC236}">
                <a16:creationId xmlns:a16="http://schemas.microsoft.com/office/drawing/2014/main" id="{CF290A0B-727C-D66D-0306-28E7CB27F8A7}"/>
              </a:ext>
            </a:extLst>
          </p:cNvPr>
          <p:cNvPicPr preferRelativeResize="0"/>
          <p:nvPr/>
        </p:nvPicPr>
        <p:blipFill rotWithShape="1">
          <a:blip r:embed="rId5">
            <a:alphaModFix/>
          </a:blip>
          <a:srcRect/>
          <a:stretch/>
        </p:blipFill>
        <p:spPr>
          <a:xfrm>
            <a:off x="9759328" y="4529848"/>
            <a:ext cx="2204072" cy="2193052"/>
          </a:xfrm>
          <a:prstGeom prst="rect">
            <a:avLst/>
          </a:prstGeom>
          <a:noFill/>
          <a:ln>
            <a:noFill/>
          </a:ln>
        </p:spPr>
      </p:pic>
    </p:spTree>
    <p:extLst>
      <p:ext uri="{BB962C8B-B14F-4D97-AF65-F5344CB8AC3E}">
        <p14:creationId xmlns:p14="http://schemas.microsoft.com/office/powerpoint/2010/main" val="2635388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cxnSp>
        <p:nvCxnSpPr>
          <p:cNvPr id="171" name="Google Shape;171;g29afadbc62e_0_5"/>
          <p:cNvCxnSpPr/>
          <p:nvPr/>
        </p:nvCxnSpPr>
        <p:spPr>
          <a:xfrm>
            <a:off x="8393229" y="522898"/>
            <a:ext cx="3798900" cy="0"/>
          </a:xfrm>
          <a:prstGeom prst="straightConnector1">
            <a:avLst/>
          </a:prstGeom>
          <a:noFill/>
          <a:ln w="9525" cap="flat" cmpd="sng">
            <a:solidFill>
              <a:srgbClr val="085763"/>
            </a:solidFill>
            <a:prstDash val="solid"/>
            <a:miter lim="800000"/>
            <a:headEnd type="oval" w="med" len="med"/>
            <a:tailEnd type="none" w="sm" len="sm"/>
          </a:ln>
        </p:spPr>
      </p:cxnSp>
      <p:sp>
        <p:nvSpPr>
          <p:cNvPr id="172" name="Google Shape;172;g29afadbc62e_0_5"/>
          <p:cNvSpPr txBox="1"/>
          <p:nvPr/>
        </p:nvSpPr>
        <p:spPr>
          <a:xfrm>
            <a:off x="228600" y="135100"/>
            <a:ext cx="11734800" cy="775597"/>
          </a:xfrm>
          <a:prstGeom prst="rect">
            <a:avLst/>
          </a:prstGeom>
          <a:noFill/>
          <a:ln>
            <a:noFill/>
          </a:ln>
        </p:spPr>
        <p:txBody>
          <a:bodyPr spcFirstLastPara="1" wrap="square" lIns="0" tIns="0" rIns="0" bIns="0" anchor="t" anchorCtr="0">
            <a:spAutoFit/>
          </a:bodyPr>
          <a:lstStyle/>
          <a:p>
            <a:pPr algn="ctr">
              <a:lnSpc>
                <a:spcPct val="90000"/>
              </a:lnSpc>
              <a:buClr>
                <a:srgbClr val="3F3F3F"/>
              </a:buClr>
              <a:buSzPts val="2800"/>
            </a:pPr>
            <a:r>
              <a:rPr lang="es-ES" sz="2800" b="1" dirty="0">
                <a:solidFill>
                  <a:srgbClr val="3F3F3F"/>
                </a:solidFill>
                <a:latin typeface="Century Gothic"/>
                <a:ea typeface="Century Gothic"/>
                <a:cs typeface="Century Gothic"/>
                <a:sym typeface="Century Gothic"/>
              </a:rPr>
              <a:t>Maquetación y distribución de componentes</a:t>
            </a:r>
            <a:endParaRPr lang="es-ES" sz="2800" b="0" i="0" u="none" strike="noStrike" cap="none" dirty="0">
              <a:solidFill>
                <a:srgbClr val="3F3F3F"/>
              </a:solidFill>
              <a:latin typeface="Century Gothic"/>
              <a:ea typeface="Century Gothic"/>
              <a:cs typeface="Century Gothic"/>
              <a:sym typeface="Century Gothic"/>
            </a:endParaRPr>
          </a:p>
          <a:p>
            <a:pPr marL="0" marR="0" lvl="0" indent="0" algn="ctr" rtl="0">
              <a:lnSpc>
                <a:spcPct val="90000"/>
              </a:lnSpc>
              <a:spcBef>
                <a:spcPts val="0"/>
              </a:spcBef>
              <a:spcAft>
                <a:spcPts val="0"/>
              </a:spcAft>
              <a:buClr>
                <a:srgbClr val="3F3F3F"/>
              </a:buClr>
              <a:buSzPts val="2800"/>
              <a:buFont typeface="Century Gothic"/>
              <a:buNone/>
            </a:pPr>
            <a:endParaRPr sz="2800" b="0" i="0" u="none" strike="noStrike" cap="none" dirty="0">
              <a:solidFill>
                <a:srgbClr val="3F3F3F"/>
              </a:solidFill>
              <a:latin typeface="Century Gothic"/>
              <a:ea typeface="Century Gothic"/>
              <a:cs typeface="Century Gothic"/>
              <a:sym typeface="Century Gothic"/>
            </a:endParaRPr>
          </a:p>
        </p:txBody>
      </p:sp>
      <p:cxnSp>
        <p:nvCxnSpPr>
          <p:cNvPr id="173" name="Google Shape;173;g29afadbc62e_0_5"/>
          <p:cNvCxnSpPr/>
          <p:nvPr/>
        </p:nvCxnSpPr>
        <p:spPr>
          <a:xfrm>
            <a:off x="0" y="522898"/>
            <a:ext cx="3792300" cy="0"/>
          </a:xfrm>
          <a:prstGeom prst="straightConnector1">
            <a:avLst/>
          </a:prstGeom>
          <a:noFill/>
          <a:ln w="9525" cap="flat" cmpd="sng">
            <a:solidFill>
              <a:srgbClr val="085763"/>
            </a:solidFill>
            <a:prstDash val="solid"/>
            <a:miter lim="800000"/>
            <a:headEnd type="none" w="sm" len="sm"/>
            <a:tailEnd type="oval" w="med" len="med"/>
          </a:ln>
        </p:spPr>
      </p:cxnSp>
      <p:pic>
        <p:nvPicPr>
          <p:cNvPr id="3" name="Imagen 2">
            <a:extLst>
              <a:ext uri="{FF2B5EF4-FFF2-40B4-BE49-F238E27FC236}">
                <a16:creationId xmlns:a16="http://schemas.microsoft.com/office/drawing/2014/main" id="{AABE3E49-A851-E70C-1440-27D3FAB4FBEF}"/>
              </a:ext>
            </a:extLst>
          </p:cNvPr>
          <p:cNvPicPr>
            <a:picLocks noChangeAspect="1"/>
          </p:cNvPicPr>
          <p:nvPr/>
        </p:nvPicPr>
        <p:blipFill>
          <a:blip r:embed="rId3"/>
          <a:stretch>
            <a:fillRect/>
          </a:stretch>
        </p:blipFill>
        <p:spPr>
          <a:xfrm>
            <a:off x="3030876" y="814820"/>
            <a:ext cx="6415405" cy="4811554"/>
          </a:xfrm>
          <a:prstGeom prst="rect">
            <a:avLst/>
          </a:prstGeom>
        </p:spPr>
      </p:pic>
      <p:pic>
        <p:nvPicPr>
          <p:cNvPr id="174" name="Google Shape;174;g29afadbc62e_0_5" descr="Facultad - Arquitectura"/>
          <p:cNvPicPr preferRelativeResize="0"/>
          <p:nvPr/>
        </p:nvPicPr>
        <p:blipFill rotWithShape="1">
          <a:blip r:embed="rId4">
            <a:alphaModFix/>
          </a:blip>
          <a:srcRect/>
          <a:stretch/>
        </p:blipFill>
        <p:spPr>
          <a:xfrm>
            <a:off x="9759328" y="4529848"/>
            <a:ext cx="2204072" cy="219305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0">
          <a:extLst>
            <a:ext uri="{FF2B5EF4-FFF2-40B4-BE49-F238E27FC236}">
              <a16:creationId xmlns:a16="http://schemas.microsoft.com/office/drawing/2014/main" id="{22EC6B28-5AD3-3C0B-C4BB-AB11612325D5}"/>
            </a:ext>
          </a:extLst>
        </p:cNvPr>
        <p:cNvGrpSpPr/>
        <p:nvPr/>
      </p:nvGrpSpPr>
      <p:grpSpPr>
        <a:xfrm>
          <a:off x="0" y="0"/>
          <a:ext cx="0" cy="0"/>
          <a:chOff x="0" y="0"/>
          <a:chExt cx="0" cy="0"/>
        </a:xfrm>
      </p:grpSpPr>
      <p:cxnSp>
        <p:nvCxnSpPr>
          <p:cNvPr id="171" name="Google Shape;171;g29afadbc62e_0_5">
            <a:extLst>
              <a:ext uri="{FF2B5EF4-FFF2-40B4-BE49-F238E27FC236}">
                <a16:creationId xmlns:a16="http://schemas.microsoft.com/office/drawing/2014/main" id="{C13634B2-CBEE-9226-4F22-CF2066B2CB20}"/>
              </a:ext>
            </a:extLst>
          </p:cNvPr>
          <p:cNvCxnSpPr/>
          <p:nvPr/>
        </p:nvCxnSpPr>
        <p:spPr>
          <a:xfrm>
            <a:off x="8393229" y="522898"/>
            <a:ext cx="3798900" cy="0"/>
          </a:xfrm>
          <a:prstGeom prst="straightConnector1">
            <a:avLst/>
          </a:prstGeom>
          <a:noFill/>
          <a:ln w="9525" cap="flat" cmpd="sng">
            <a:solidFill>
              <a:srgbClr val="085763"/>
            </a:solidFill>
            <a:prstDash val="solid"/>
            <a:miter lim="800000"/>
            <a:headEnd type="oval" w="med" len="med"/>
            <a:tailEnd type="none" w="sm" len="sm"/>
          </a:ln>
        </p:spPr>
      </p:cxnSp>
      <p:sp>
        <p:nvSpPr>
          <p:cNvPr id="172" name="Google Shape;172;g29afadbc62e_0_5">
            <a:extLst>
              <a:ext uri="{FF2B5EF4-FFF2-40B4-BE49-F238E27FC236}">
                <a16:creationId xmlns:a16="http://schemas.microsoft.com/office/drawing/2014/main" id="{9E2FA227-A50F-9FFE-15A2-4CE6968B1108}"/>
              </a:ext>
            </a:extLst>
          </p:cNvPr>
          <p:cNvSpPr txBox="1"/>
          <p:nvPr/>
        </p:nvSpPr>
        <p:spPr>
          <a:xfrm>
            <a:off x="228600" y="135100"/>
            <a:ext cx="11734800" cy="775597"/>
          </a:xfrm>
          <a:prstGeom prst="rect">
            <a:avLst/>
          </a:prstGeom>
          <a:noFill/>
          <a:ln>
            <a:noFill/>
          </a:ln>
        </p:spPr>
        <p:txBody>
          <a:bodyPr spcFirstLastPara="1" wrap="square" lIns="0" tIns="0" rIns="0" bIns="0" anchor="t" anchorCtr="0">
            <a:spAutoFit/>
          </a:bodyPr>
          <a:lstStyle/>
          <a:p>
            <a:pPr algn="ctr">
              <a:lnSpc>
                <a:spcPct val="90000"/>
              </a:lnSpc>
              <a:buClr>
                <a:srgbClr val="3F3F3F"/>
              </a:buClr>
              <a:buSzPts val="2800"/>
            </a:pPr>
            <a:r>
              <a:rPr lang="es-ES" sz="2800" b="1" dirty="0">
                <a:solidFill>
                  <a:srgbClr val="3F3F3F"/>
                </a:solidFill>
                <a:latin typeface="Century Gothic"/>
                <a:ea typeface="Century Gothic"/>
                <a:cs typeface="Century Gothic"/>
                <a:sym typeface="Century Gothic"/>
              </a:rPr>
              <a:t>Tipos de sensores </a:t>
            </a:r>
            <a:endParaRPr lang="es-ES" sz="2800" b="0" i="0" u="none" strike="noStrike" cap="none" dirty="0">
              <a:solidFill>
                <a:srgbClr val="3F3F3F"/>
              </a:solidFill>
              <a:latin typeface="Century Gothic"/>
              <a:ea typeface="Century Gothic"/>
              <a:cs typeface="Century Gothic"/>
              <a:sym typeface="Century Gothic"/>
            </a:endParaRPr>
          </a:p>
          <a:p>
            <a:pPr marL="0" marR="0" lvl="0" indent="0" algn="ctr" rtl="0">
              <a:lnSpc>
                <a:spcPct val="90000"/>
              </a:lnSpc>
              <a:spcBef>
                <a:spcPts val="0"/>
              </a:spcBef>
              <a:spcAft>
                <a:spcPts val="0"/>
              </a:spcAft>
              <a:buClr>
                <a:srgbClr val="3F3F3F"/>
              </a:buClr>
              <a:buSzPts val="2800"/>
              <a:buFont typeface="Century Gothic"/>
              <a:buNone/>
            </a:pPr>
            <a:endParaRPr sz="2800" b="0" i="0" u="none" strike="noStrike" cap="none" dirty="0">
              <a:solidFill>
                <a:srgbClr val="3F3F3F"/>
              </a:solidFill>
              <a:latin typeface="Century Gothic"/>
              <a:ea typeface="Century Gothic"/>
              <a:cs typeface="Century Gothic"/>
              <a:sym typeface="Century Gothic"/>
            </a:endParaRPr>
          </a:p>
        </p:txBody>
      </p:sp>
      <p:cxnSp>
        <p:nvCxnSpPr>
          <p:cNvPr id="173" name="Google Shape;173;g29afadbc62e_0_5">
            <a:extLst>
              <a:ext uri="{FF2B5EF4-FFF2-40B4-BE49-F238E27FC236}">
                <a16:creationId xmlns:a16="http://schemas.microsoft.com/office/drawing/2014/main" id="{7829E9D5-8C25-2D50-6989-8B412FBD6B43}"/>
              </a:ext>
            </a:extLst>
          </p:cNvPr>
          <p:cNvCxnSpPr/>
          <p:nvPr/>
        </p:nvCxnSpPr>
        <p:spPr>
          <a:xfrm>
            <a:off x="0" y="522898"/>
            <a:ext cx="3792300" cy="0"/>
          </a:xfrm>
          <a:prstGeom prst="straightConnector1">
            <a:avLst/>
          </a:prstGeom>
          <a:noFill/>
          <a:ln w="9525" cap="flat" cmpd="sng">
            <a:solidFill>
              <a:srgbClr val="085763"/>
            </a:solidFill>
            <a:prstDash val="solid"/>
            <a:miter lim="800000"/>
            <a:headEnd type="none" w="sm" len="sm"/>
            <a:tailEnd type="oval" w="med" len="med"/>
          </a:ln>
        </p:spPr>
      </p:cxnSp>
      <p:pic>
        <p:nvPicPr>
          <p:cNvPr id="174" name="Google Shape;174;g29afadbc62e_0_5" descr="Facultad - Arquitectura">
            <a:extLst>
              <a:ext uri="{FF2B5EF4-FFF2-40B4-BE49-F238E27FC236}">
                <a16:creationId xmlns:a16="http://schemas.microsoft.com/office/drawing/2014/main" id="{1E6D4910-CBC1-2FDA-6E41-54261F48F818}"/>
              </a:ext>
            </a:extLst>
          </p:cNvPr>
          <p:cNvPicPr preferRelativeResize="0"/>
          <p:nvPr/>
        </p:nvPicPr>
        <p:blipFill rotWithShape="1">
          <a:blip r:embed="rId3">
            <a:alphaModFix/>
          </a:blip>
          <a:srcRect/>
          <a:stretch/>
        </p:blipFill>
        <p:spPr>
          <a:xfrm>
            <a:off x="9759328" y="4529848"/>
            <a:ext cx="2204072" cy="2193052"/>
          </a:xfrm>
          <a:prstGeom prst="rect">
            <a:avLst/>
          </a:prstGeom>
          <a:noFill/>
          <a:ln>
            <a:noFill/>
          </a:ln>
        </p:spPr>
      </p:pic>
      <p:pic>
        <p:nvPicPr>
          <p:cNvPr id="4" name="Imagen 3">
            <a:extLst>
              <a:ext uri="{FF2B5EF4-FFF2-40B4-BE49-F238E27FC236}">
                <a16:creationId xmlns:a16="http://schemas.microsoft.com/office/drawing/2014/main" id="{FCF319EF-880F-BF0E-763B-C9085B753044}"/>
              </a:ext>
            </a:extLst>
          </p:cNvPr>
          <p:cNvPicPr>
            <a:picLocks noChangeAspect="1"/>
          </p:cNvPicPr>
          <p:nvPr/>
        </p:nvPicPr>
        <p:blipFill>
          <a:blip r:embed="rId4"/>
          <a:srcRect l="40546"/>
          <a:stretch/>
        </p:blipFill>
        <p:spPr>
          <a:xfrm>
            <a:off x="1450179" y="991260"/>
            <a:ext cx="2740936" cy="3457648"/>
          </a:xfrm>
          <a:prstGeom prst="rect">
            <a:avLst/>
          </a:prstGeom>
        </p:spPr>
      </p:pic>
      <p:pic>
        <p:nvPicPr>
          <p:cNvPr id="6" name="Imagen 5">
            <a:extLst>
              <a:ext uri="{FF2B5EF4-FFF2-40B4-BE49-F238E27FC236}">
                <a16:creationId xmlns:a16="http://schemas.microsoft.com/office/drawing/2014/main" id="{EA34933F-C77C-EF9E-A78E-E53B04D2F545}"/>
              </a:ext>
            </a:extLst>
          </p:cNvPr>
          <p:cNvPicPr>
            <a:picLocks noChangeAspect="1"/>
          </p:cNvPicPr>
          <p:nvPr/>
        </p:nvPicPr>
        <p:blipFill>
          <a:blip r:embed="rId5"/>
          <a:srcRect l="21967" r="7741"/>
          <a:stretch/>
        </p:blipFill>
        <p:spPr>
          <a:xfrm>
            <a:off x="4589929" y="522898"/>
            <a:ext cx="3012142" cy="3213847"/>
          </a:xfrm>
          <a:prstGeom prst="rect">
            <a:avLst/>
          </a:prstGeom>
        </p:spPr>
      </p:pic>
      <p:pic>
        <p:nvPicPr>
          <p:cNvPr id="8" name="Imagen 7">
            <a:extLst>
              <a:ext uri="{FF2B5EF4-FFF2-40B4-BE49-F238E27FC236}">
                <a16:creationId xmlns:a16="http://schemas.microsoft.com/office/drawing/2014/main" id="{924BC2FC-8580-C86A-D896-9D1B2BE49D49}"/>
              </a:ext>
            </a:extLst>
          </p:cNvPr>
          <p:cNvPicPr>
            <a:picLocks noChangeAspect="1"/>
          </p:cNvPicPr>
          <p:nvPr/>
        </p:nvPicPr>
        <p:blipFill>
          <a:blip r:embed="rId6"/>
          <a:stretch>
            <a:fillRect/>
          </a:stretch>
        </p:blipFill>
        <p:spPr>
          <a:xfrm>
            <a:off x="7800426" y="1825438"/>
            <a:ext cx="4276165" cy="3207124"/>
          </a:xfrm>
          <a:prstGeom prst="rect">
            <a:avLst/>
          </a:prstGeom>
        </p:spPr>
      </p:pic>
      <p:pic>
        <p:nvPicPr>
          <p:cNvPr id="10" name="Imagen 9">
            <a:extLst>
              <a:ext uri="{FF2B5EF4-FFF2-40B4-BE49-F238E27FC236}">
                <a16:creationId xmlns:a16="http://schemas.microsoft.com/office/drawing/2014/main" id="{76FB84A9-BA6E-4E66-C2BD-B3255F66D968}"/>
              </a:ext>
            </a:extLst>
          </p:cNvPr>
          <p:cNvPicPr>
            <a:picLocks noChangeAspect="1"/>
          </p:cNvPicPr>
          <p:nvPr/>
        </p:nvPicPr>
        <p:blipFill>
          <a:blip r:embed="rId7"/>
          <a:srcRect l="62282" t="33797" b="17989"/>
          <a:stretch/>
        </p:blipFill>
        <p:spPr>
          <a:xfrm rot="10800000">
            <a:off x="4577615" y="3831932"/>
            <a:ext cx="3137647" cy="3008138"/>
          </a:xfrm>
          <a:prstGeom prst="rect">
            <a:avLst/>
          </a:prstGeom>
        </p:spPr>
      </p:pic>
    </p:spTree>
    <p:extLst>
      <p:ext uri="{BB962C8B-B14F-4D97-AF65-F5344CB8AC3E}">
        <p14:creationId xmlns:p14="http://schemas.microsoft.com/office/powerpoint/2010/main" val="3996795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a:extLst>
            <a:ext uri="{FF2B5EF4-FFF2-40B4-BE49-F238E27FC236}">
              <a16:creationId xmlns:a16="http://schemas.microsoft.com/office/drawing/2014/main" id="{6C50A0D2-AC7F-7529-FA05-CCCEDE656B0C}"/>
            </a:ext>
          </a:extLst>
        </p:cNvPr>
        <p:cNvGrpSpPr/>
        <p:nvPr/>
      </p:nvGrpSpPr>
      <p:grpSpPr>
        <a:xfrm>
          <a:off x="0" y="0"/>
          <a:ext cx="0" cy="0"/>
          <a:chOff x="0" y="0"/>
          <a:chExt cx="0" cy="0"/>
        </a:xfrm>
      </p:grpSpPr>
      <p:cxnSp>
        <p:nvCxnSpPr>
          <p:cNvPr id="171" name="Google Shape;171;g29afadbc62e_0_5">
            <a:extLst>
              <a:ext uri="{FF2B5EF4-FFF2-40B4-BE49-F238E27FC236}">
                <a16:creationId xmlns:a16="http://schemas.microsoft.com/office/drawing/2014/main" id="{6F601A25-96BB-E5E8-B9A9-C5FF3C504E5E}"/>
              </a:ext>
            </a:extLst>
          </p:cNvPr>
          <p:cNvCxnSpPr/>
          <p:nvPr/>
        </p:nvCxnSpPr>
        <p:spPr>
          <a:xfrm>
            <a:off x="8393229" y="522898"/>
            <a:ext cx="3798900" cy="0"/>
          </a:xfrm>
          <a:prstGeom prst="straightConnector1">
            <a:avLst/>
          </a:prstGeom>
          <a:noFill/>
          <a:ln w="9525" cap="flat" cmpd="sng">
            <a:solidFill>
              <a:srgbClr val="085763"/>
            </a:solidFill>
            <a:prstDash val="solid"/>
            <a:miter lim="800000"/>
            <a:headEnd type="oval" w="med" len="med"/>
            <a:tailEnd type="none" w="sm" len="sm"/>
          </a:ln>
        </p:spPr>
      </p:cxnSp>
      <p:sp>
        <p:nvSpPr>
          <p:cNvPr id="172" name="Google Shape;172;g29afadbc62e_0_5">
            <a:extLst>
              <a:ext uri="{FF2B5EF4-FFF2-40B4-BE49-F238E27FC236}">
                <a16:creationId xmlns:a16="http://schemas.microsoft.com/office/drawing/2014/main" id="{E7D69FB2-ABA0-989C-9940-5EEDE2C6F1D8}"/>
              </a:ext>
            </a:extLst>
          </p:cNvPr>
          <p:cNvSpPr txBox="1"/>
          <p:nvPr/>
        </p:nvSpPr>
        <p:spPr>
          <a:xfrm>
            <a:off x="228600" y="135100"/>
            <a:ext cx="11734800" cy="775597"/>
          </a:xfrm>
          <a:prstGeom prst="rect">
            <a:avLst/>
          </a:prstGeom>
          <a:noFill/>
          <a:ln>
            <a:noFill/>
          </a:ln>
        </p:spPr>
        <p:txBody>
          <a:bodyPr spcFirstLastPara="1" wrap="square" lIns="0" tIns="0" rIns="0" bIns="0" anchor="t" anchorCtr="0">
            <a:spAutoFit/>
          </a:bodyPr>
          <a:lstStyle/>
          <a:p>
            <a:pPr algn="ctr">
              <a:lnSpc>
                <a:spcPct val="90000"/>
              </a:lnSpc>
              <a:buClr>
                <a:srgbClr val="3F3F3F"/>
              </a:buClr>
              <a:buSzPts val="2800"/>
            </a:pPr>
            <a:r>
              <a:rPr lang="es-ES" sz="2800" b="1" dirty="0">
                <a:solidFill>
                  <a:srgbClr val="3F3F3F"/>
                </a:solidFill>
                <a:latin typeface="Century Gothic"/>
                <a:ea typeface="Century Gothic"/>
                <a:cs typeface="Century Gothic"/>
                <a:sym typeface="Century Gothic"/>
              </a:rPr>
              <a:t>Tipos de módulos de comunicación</a:t>
            </a:r>
            <a:endParaRPr lang="es-ES" sz="2800" b="0" i="0" u="none" strike="noStrike" cap="none" dirty="0">
              <a:solidFill>
                <a:srgbClr val="3F3F3F"/>
              </a:solidFill>
              <a:latin typeface="Century Gothic"/>
              <a:ea typeface="Century Gothic"/>
              <a:cs typeface="Century Gothic"/>
              <a:sym typeface="Century Gothic"/>
            </a:endParaRPr>
          </a:p>
          <a:p>
            <a:pPr marL="0" marR="0" lvl="0" indent="0" algn="ctr" rtl="0">
              <a:lnSpc>
                <a:spcPct val="90000"/>
              </a:lnSpc>
              <a:spcBef>
                <a:spcPts val="0"/>
              </a:spcBef>
              <a:spcAft>
                <a:spcPts val="0"/>
              </a:spcAft>
              <a:buClr>
                <a:srgbClr val="3F3F3F"/>
              </a:buClr>
              <a:buSzPts val="2800"/>
              <a:buFont typeface="Century Gothic"/>
              <a:buNone/>
            </a:pPr>
            <a:endParaRPr sz="2800" b="0" i="0" u="none" strike="noStrike" cap="none" dirty="0">
              <a:solidFill>
                <a:srgbClr val="3F3F3F"/>
              </a:solidFill>
              <a:latin typeface="Century Gothic"/>
              <a:ea typeface="Century Gothic"/>
              <a:cs typeface="Century Gothic"/>
              <a:sym typeface="Century Gothic"/>
            </a:endParaRPr>
          </a:p>
        </p:txBody>
      </p:sp>
      <p:cxnSp>
        <p:nvCxnSpPr>
          <p:cNvPr id="173" name="Google Shape;173;g29afadbc62e_0_5">
            <a:extLst>
              <a:ext uri="{FF2B5EF4-FFF2-40B4-BE49-F238E27FC236}">
                <a16:creationId xmlns:a16="http://schemas.microsoft.com/office/drawing/2014/main" id="{E2317FD5-012E-732C-9C86-A072B708F51E}"/>
              </a:ext>
            </a:extLst>
          </p:cNvPr>
          <p:cNvCxnSpPr/>
          <p:nvPr/>
        </p:nvCxnSpPr>
        <p:spPr>
          <a:xfrm>
            <a:off x="0" y="522898"/>
            <a:ext cx="3792300" cy="0"/>
          </a:xfrm>
          <a:prstGeom prst="straightConnector1">
            <a:avLst/>
          </a:prstGeom>
          <a:noFill/>
          <a:ln w="9525" cap="flat" cmpd="sng">
            <a:solidFill>
              <a:srgbClr val="085763"/>
            </a:solidFill>
            <a:prstDash val="solid"/>
            <a:miter lim="800000"/>
            <a:headEnd type="none" w="sm" len="sm"/>
            <a:tailEnd type="oval" w="med" len="med"/>
          </a:ln>
        </p:spPr>
      </p:cxnSp>
      <p:pic>
        <p:nvPicPr>
          <p:cNvPr id="4" name="Imagen 3">
            <a:extLst>
              <a:ext uri="{FF2B5EF4-FFF2-40B4-BE49-F238E27FC236}">
                <a16:creationId xmlns:a16="http://schemas.microsoft.com/office/drawing/2014/main" id="{800EB929-38F5-96E9-B7AE-029F906BE3E9}"/>
              </a:ext>
            </a:extLst>
          </p:cNvPr>
          <p:cNvPicPr>
            <a:picLocks noChangeAspect="1"/>
          </p:cNvPicPr>
          <p:nvPr/>
        </p:nvPicPr>
        <p:blipFill>
          <a:blip r:embed="rId3"/>
          <a:srcRect l="8518" t="46144" r="39543" b="27712"/>
          <a:stretch/>
        </p:blipFill>
        <p:spPr>
          <a:xfrm>
            <a:off x="4318314" y="645458"/>
            <a:ext cx="3626536" cy="2433918"/>
          </a:xfrm>
          <a:prstGeom prst="rect">
            <a:avLst/>
          </a:prstGeom>
        </p:spPr>
      </p:pic>
      <p:pic>
        <p:nvPicPr>
          <p:cNvPr id="6" name="Imagen 5">
            <a:extLst>
              <a:ext uri="{FF2B5EF4-FFF2-40B4-BE49-F238E27FC236}">
                <a16:creationId xmlns:a16="http://schemas.microsoft.com/office/drawing/2014/main" id="{02CD1D44-33E9-FB50-624E-816F4BF1F19F}"/>
              </a:ext>
            </a:extLst>
          </p:cNvPr>
          <p:cNvPicPr>
            <a:picLocks noChangeAspect="1"/>
          </p:cNvPicPr>
          <p:nvPr/>
        </p:nvPicPr>
        <p:blipFill>
          <a:blip r:embed="rId4"/>
          <a:srcRect l="10436" t="34248" r="35534" b="16155"/>
          <a:stretch/>
        </p:blipFill>
        <p:spPr>
          <a:xfrm>
            <a:off x="4630150" y="3172726"/>
            <a:ext cx="2779059" cy="3401326"/>
          </a:xfrm>
          <a:prstGeom prst="rect">
            <a:avLst/>
          </a:prstGeom>
        </p:spPr>
      </p:pic>
      <p:pic>
        <p:nvPicPr>
          <p:cNvPr id="8" name="Imagen 7">
            <a:extLst>
              <a:ext uri="{FF2B5EF4-FFF2-40B4-BE49-F238E27FC236}">
                <a16:creationId xmlns:a16="http://schemas.microsoft.com/office/drawing/2014/main" id="{9B5BB024-FF37-1BF3-2E44-8D8E0439C6C3}"/>
              </a:ext>
            </a:extLst>
          </p:cNvPr>
          <p:cNvPicPr>
            <a:picLocks noChangeAspect="1"/>
          </p:cNvPicPr>
          <p:nvPr/>
        </p:nvPicPr>
        <p:blipFill>
          <a:blip r:embed="rId5"/>
          <a:srcRect l="7864" t="14509" r="21629" b="14509"/>
          <a:stretch/>
        </p:blipFill>
        <p:spPr>
          <a:xfrm>
            <a:off x="1154668" y="995082"/>
            <a:ext cx="2825541" cy="3792675"/>
          </a:xfrm>
          <a:prstGeom prst="rect">
            <a:avLst/>
          </a:prstGeom>
        </p:spPr>
      </p:pic>
      <p:pic>
        <p:nvPicPr>
          <p:cNvPr id="10" name="Imagen 9">
            <a:extLst>
              <a:ext uri="{FF2B5EF4-FFF2-40B4-BE49-F238E27FC236}">
                <a16:creationId xmlns:a16="http://schemas.microsoft.com/office/drawing/2014/main" id="{84969DF0-8BA0-1B92-1B67-A74CDBA44F9E}"/>
              </a:ext>
            </a:extLst>
          </p:cNvPr>
          <p:cNvPicPr>
            <a:picLocks noChangeAspect="1"/>
          </p:cNvPicPr>
          <p:nvPr/>
        </p:nvPicPr>
        <p:blipFill>
          <a:blip r:embed="rId6"/>
          <a:srcRect l="8864" t="24314" r="10785" b="9412"/>
          <a:stretch/>
        </p:blipFill>
        <p:spPr>
          <a:xfrm>
            <a:off x="8059150" y="1461246"/>
            <a:ext cx="4132850" cy="4545108"/>
          </a:xfrm>
          <a:prstGeom prst="rect">
            <a:avLst/>
          </a:prstGeom>
        </p:spPr>
      </p:pic>
      <p:pic>
        <p:nvPicPr>
          <p:cNvPr id="174" name="Google Shape;174;g29afadbc62e_0_5" descr="Facultad - Arquitectura">
            <a:extLst>
              <a:ext uri="{FF2B5EF4-FFF2-40B4-BE49-F238E27FC236}">
                <a16:creationId xmlns:a16="http://schemas.microsoft.com/office/drawing/2014/main" id="{947ED88D-02F2-73B7-E153-8D22AF4C3D24}"/>
              </a:ext>
            </a:extLst>
          </p:cNvPr>
          <p:cNvPicPr preferRelativeResize="0"/>
          <p:nvPr/>
        </p:nvPicPr>
        <p:blipFill rotWithShape="1">
          <a:blip r:embed="rId7">
            <a:alphaModFix/>
          </a:blip>
          <a:srcRect/>
          <a:stretch/>
        </p:blipFill>
        <p:spPr>
          <a:xfrm>
            <a:off x="9759328" y="4529848"/>
            <a:ext cx="2204072" cy="2193052"/>
          </a:xfrm>
          <a:prstGeom prst="rect">
            <a:avLst/>
          </a:prstGeom>
          <a:noFill/>
          <a:ln>
            <a:noFill/>
          </a:ln>
        </p:spPr>
      </p:pic>
    </p:spTree>
    <p:extLst>
      <p:ext uri="{BB962C8B-B14F-4D97-AF65-F5344CB8AC3E}">
        <p14:creationId xmlns:p14="http://schemas.microsoft.com/office/powerpoint/2010/main" val="3744476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a:extLst>
            <a:ext uri="{FF2B5EF4-FFF2-40B4-BE49-F238E27FC236}">
              <a16:creationId xmlns:a16="http://schemas.microsoft.com/office/drawing/2014/main" id="{D36E4F05-BBDC-3655-CD3E-A4169E9EC27A}"/>
            </a:ext>
          </a:extLst>
        </p:cNvPr>
        <p:cNvGrpSpPr/>
        <p:nvPr/>
      </p:nvGrpSpPr>
      <p:grpSpPr>
        <a:xfrm>
          <a:off x="0" y="0"/>
          <a:ext cx="0" cy="0"/>
          <a:chOff x="0" y="0"/>
          <a:chExt cx="0" cy="0"/>
        </a:xfrm>
      </p:grpSpPr>
      <p:cxnSp>
        <p:nvCxnSpPr>
          <p:cNvPr id="171" name="Google Shape;171;g29afadbc62e_0_5">
            <a:extLst>
              <a:ext uri="{FF2B5EF4-FFF2-40B4-BE49-F238E27FC236}">
                <a16:creationId xmlns:a16="http://schemas.microsoft.com/office/drawing/2014/main" id="{A7176B58-2C70-350E-409A-45F0B00096D6}"/>
              </a:ext>
            </a:extLst>
          </p:cNvPr>
          <p:cNvCxnSpPr/>
          <p:nvPr/>
        </p:nvCxnSpPr>
        <p:spPr>
          <a:xfrm>
            <a:off x="8393229" y="522898"/>
            <a:ext cx="3798900" cy="0"/>
          </a:xfrm>
          <a:prstGeom prst="straightConnector1">
            <a:avLst/>
          </a:prstGeom>
          <a:noFill/>
          <a:ln w="9525" cap="flat" cmpd="sng">
            <a:solidFill>
              <a:srgbClr val="085763"/>
            </a:solidFill>
            <a:prstDash val="solid"/>
            <a:miter lim="800000"/>
            <a:headEnd type="oval" w="med" len="med"/>
            <a:tailEnd type="none" w="sm" len="sm"/>
          </a:ln>
        </p:spPr>
      </p:cxnSp>
      <p:sp>
        <p:nvSpPr>
          <p:cNvPr id="172" name="Google Shape;172;g29afadbc62e_0_5">
            <a:extLst>
              <a:ext uri="{FF2B5EF4-FFF2-40B4-BE49-F238E27FC236}">
                <a16:creationId xmlns:a16="http://schemas.microsoft.com/office/drawing/2014/main" id="{537C6023-C94F-DA17-EB6D-0B3620136DB9}"/>
              </a:ext>
            </a:extLst>
          </p:cNvPr>
          <p:cNvSpPr txBox="1"/>
          <p:nvPr/>
        </p:nvSpPr>
        <p:spPr>
          <a:xfrm>
            <a:off x="228600" y="2887265"/>
            <a:ext cx="11734800" cy="775597"/>
          </a:xfrm>
          <a:prstGeom prst="rect">
            <a:avLst/>
          </a:prstGeom>
          <a:noFill/>
          <a:ln>
            <a:noFill/>
          </a:ln>
        </p:spPr>
        <p:txBody>
          <a:bodyPr spcFirstLastPara="1" wrap="square" lIns="0" tIns="0" rIns="0" bIns="0" anchor="t" anchorCtr="0">
            <a:spAutoFit/>
          </a:bodyPr>
          <a:lstStyle/>
          <a:p>
            <a:pPr algn="ctr">
              <a:lnSpc>
                <a:spcPct val="90000"/>
              </a:lnSpc>
              <a:buClr>
                <a:srgbClr val="3F3F3F"/>
              </a:buClr>
              <a:buSzPts val="2800"/>
            </a:pPr>
            <a:r>
              <a:rPr lang="es-ES" sz="2800" b="1" dirty="0">
                <a:solidFill>
                  <a:srgbClr val="3F3F3F"/>
                </a:solidFill>
                <a:latin typeface="Century Gothic"/>
                <a:ea typeface="Century Gothic"/>
                <a:cs typeface="Century Gothic"/>
                <a:sym typeface="Century Gothic"/>
              </a:rPr>
              <a:t>Demostración de funcionamiento</a:t>
            </a:r>
            <a:endParaRPr lang="es-ES" sz="2800" b="0" i="0" u="none" strike="noStrike" cap="none" dirty="0">
              <a:solidFill>
                <a:srgbClr val="3F3F3F"/>
              </a:solidFill>
              <a:latin typeface="Century Gothic"/>
              <a:ea typeface="Century Gothic"/>
              <a:cs typeface="Century Gothic"/>
              <a:sym typeface="Century Gothic"/>
            </a:endParaRPr>
          </a:p>
          <a:p>
            <a:pPr marL="0" marR="0" lvl="0" indent="0" algn="ctr" rtl="0">
              <a:lnSpc>
                <a:spcPct val="90000"/>
              </a:lnSpc>
              <a:spcBef>
                <a:spcPts val="0"/>
              </a:spcBef>
              <a:spcAft>
                <a:spcPts val="0"/>
              </a:spcAft>
              <a:buClr>
                <a:srgbClr val="3F3F3F"/>
              </a:buClr>
              <a:buSzPts val="2800"/>
              <a:buFont typeface="Century Gothic"/>
              <a:buNone/>
            </a:pPr>
            <a:endParaRPr sz="2800" b="0" i="0" u="none" strike="noStrike" cap="none" dirty="0">
              <a:solidFill>
                <a:srgbClr val="3F3F3F"/>
              </a:solidFill>
              <a:latin typeface="Century Gothic"/>
              <a:ea typeface="Century Gothic"/>
              <a:cs typeface="Century Gothic"/>
              <a:sym typeface="Century Gothic"/>
            </a:endParaRPr>
          </a:p>
        </p:txBody>
      </p:sp>
      <p:cxnSp>
        <p:nvCxnSpPr>
          <p:cNvPr id="173" name="Google Shape;173;g29afadbc62e_0_5">
            <a:extLst>
              <a:ext uri="{FF2B5EF4-FFF2-40B4-BE49-F238E27FC236}">
                <a16:creationId xmlns:a16="http://schemas.microsoft.com/office/drawing/2014/main" id="{009F58D9-31C3-0C5A-6BFC-A85F4CC8CCBA}"/>
              </a:ext>
            </a:extLst>
          </p:cNvPr>
          <p:cNvCxnSpPr/>
          <p:nvPr/>
        </p:nvCxnSpPr>
        <p:spPr>
          <a:xfrm>
            <a:off x="0" y="522898"/>
            <a:ext cx="3792300" cy="0"/>
          </a:xfrm>
          <a:prstGeom prst="straightConnector1">
            <a:avLst/>
          </a:prstGeom>
          <a:noFill/>
          <a:ln w="9525" cap="flat" cmpd="sng">
            <a:solidFill>
              <a:srgbClr val="085763"/>
            </a:solidFill>
            <a:prstDash val="solid"/>
            <a:miter lim="800000"/>
            <a:headEnd type="none" w="sm" len="sm"/>
            <a:tailEnd type="oval" w="med" len="med"/>
          </a:ln>
        </p:spPr>
      </p:cxnSp>
      <p:pic>
        <p:nvPicPr>
          <p:cNvPr id="174" name="Google Shape;174;g29afadbc62e_0_5" descr="Facultad - Arquitectura">
            <a:extLst>
              <a:ext uri="{FF2B5EF4-FFF2-40B4-BE49-F238E27FC236}">
                <a16:creationId xmlns:a16="http://schemas.microsoft.com/office/drawing/2014/main" id="{ADA1973D-D058-9601-E87A-E2BAE871E201}"/>
              </a:ext>
            </a:extLst>
          </p:cNvPr>
          <p:cNvPicPr preferRelativeResize="0"/>
          <p:nvPr/>
        </p:nvPicPr>
        <p:blipFill rotWithShape="1">
          <a:blip r:embed="rId3">
            <a:alphaModFix/>
          </a:blip>
          <a:srcRect/>
          <a:stretch/>
        </p:blipFill>
        <p:spPr>
          <a:xfrm>
            <a:off x="9759328" y="4529848"/>
            <a:ext cx="2204072" cy="2193052"/>
          </a:xfrm>
          <a:prstGeom prst="rect">
            <a:avLst/>
          </a:prstGeom>
          <a:noFill/>
          <a:ln>
            <a:noFill/>
          </a:ln>
        </p:spPr>
      </p:pic>
    </p:spTree>
    <p:extLst>
      <p:ext uri="{BB962C8B-B14F-4D97-AF65-F5344CB8AC3E}">
        <p14:creationId xmlns:p14="http://schemas.microsoft.com/office/powerpoint/2010/main" val="127955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cxnSp>
        <p:nvCxnSpPr>
          <p:cNvPr id="192" name="Google Shape;192;g1eb510cd08f_0_9"/>
          <p:cNvCxnSpPr/>
          <p:nvPr/>
        </p:nvCxnSpPr>
        <p:spPr>
          <a:xfrm>
            <a:off x="8393229" y="522898"/>
            <a:ext cx="3798900" cy="0"/>
          </a:xfrm>
          <a:prstGeom prst="straightConnector1">
            <a:avLst/>
          </a:prstGeom>
          <a:noFill/>
          <a:ln w="9525" cap="flat" cmpd="sng">
            <a:solidFill>
              <a:srgbClr val="085763"/>
            </a:solidFill>
            <a:prstDash val="solid"/>
            <a:miter lim="800000"/>
            <a:headEnd type="oval" w="med" len="med"/>
            <a:tailEnd type="none" w="sm" len="sm"/>
          </a:ln>
        </p:spPr>
      </p:cxnSp>
      <p:sp>
        <p:nvSpPr>
          <p:cNvPr id="193" name="Google Shape;193;g1eb510cd08f_0_9"/>
          <p:cNvSpPr txBox="1"/>
          <p:nvPr/>
        </p:nvSpPr>
        <p:spPr>
          <a:xfrm>
            <a:off x="228600" y="135100"/>
            <a:ext cx="11734800" cy="3879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3F3F3F"/>
              </a:buClr>
              <a:buSzPts val="2800"/>
              <a:buFont typeface="Century Gothic"/>
              <a:buNone/>
            </a:pPr>
            <a:r>
              <a:rPr lang="es-ES" sz="2800" b="1">
                <a:solidFill>
                  <a:srgbClr val="3F3F3F"/>
                </a:solidFill>
                <a:latin typeface="Century Gothic"/>
                <a:ea typeface="Century Gothic"/>
                <a:cs typeface="Century Gothic"/>
                <a:sym typeface="Century Gothic"/>
              </a:rPr>
              <a:t>Recomendaciones</a:t>
            </a:r>
            <a:endParaRPr sz="2800" b="0" i="0" u="none" strike="noStrike" cap="none">
              <a:solidFill>
                <a:srgbClr val="3F3F3F"/>
              </a:solidFill>
              <a:latin typeface="Century Gothic"/>
              <a:ea typeface="Century Gothic"/>
              <a:cs typeface="Century Gothic"/>
              <a:sym typeface="Century Gothic"/>
            </a:endParaRPr>
          </a:p>
        </p:txBody>
      </p:sp>
      <p:cxnSp>
        <p:nvCxnSpPr>
          <p:cNvPr id="194" name="Google Shape;194;g1eb510cd08f_0_9"/>
          <p:cNvCxnSpPr/>
          <p:nvPr/>
        </p:nvCxnSpPr>
        <p:spPr>
          <a:xfrm>
            <a:off x="0" y="522898"/>
            <a:ext cx="3792300" cy="0"/>
          </a:xfrm>
          <a:prstGeom prst="straightConnector1">
            <a:avLst/>
          </a:prstGeom>
          <a:noFill/>
          <a:ln w="9525" cap="flat" cmpd="sng">
            <a:solidFill>
              <a:srgbClr val="085763"/>
            </a:solidFill>
            <a:prstDash val="solid"/>
            <a:miter lim="800000"/>
            <a:headEnd type="none" w="sm" len="sm"/>
            <a:tailEnd type="oval" w="med" len="med"/>
          </a:ln>
        </p:spPr>
      </p:cxnSp>
      <p:pic>
        <p:nvPicPr>
          <p:cNvPr id="195" name="Google Shape;195;g1eb510cd08f_0_9" descr="Facultad - Arquitectura"/>
          <p:cNvPicPr preferRelativeResize="0"/>
          <p:nvPr/>
        </p:nvPicPr>
        <p:blipFill rotWithShape="1">
          <a:blip r:embed="rId3">
            <a:alphaModFix/>
          </a:blip>
          <a:srcRect/>
          <a:stretch/>
        </p:blipFill>
        <p:spPr>
          <a:xfrm>
            <a:off x="9759328" y="4529848"/>
            <a:ext cx="2204072" cy="2193052"/>
          </a:xfrm>
          <a:prstGeom prst="rect">
            <a:avLst/>
          </a:prstGeom>
          <a:noFill/>
          <a:ln>
            <a:noFill/>
          </a:ln>
        </p:spPr>
      </p:pic>
      <p:sp>
        <p:nvSpPr>
          <p:cNvPr id="196" name="Google Shape;196;g1eb510cd08f_0_9"/>
          <p:cNvSpPr txBox="1"/>
          <p:nvPr/>
        </p:nvSpPr>
        <p:spPr>
          <a:xfrm>
            <a:off x="527786" y="321796"/>
            <a:ext cx="10551000" cy="77271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800"/>
              </a:spcBef>
              <a:spcAft>
                <a:spcPts val="0"/>
              </a:spcAft>
              <a:buClr>
                <a:schemeClr val="accent4"/>
              </a:buClr>
              <a:buSzPts val="4000"/>
              <a:buFont typeface="Century Gothic"/>
              <a:buNone/>
            </a:pPr>
            <a:br>
              <a:rPr lang="es-ES" sz="4000" b="0" i="0" u="none" strike="noStrike" cap="none">
                <a:solidFill>
                  <a:schemeClr val="accent4"/>
                </a:solidFill>
                <a:latin typeface="Century Gothic"/>
                <a:ea typeface="Century Gothic"/>
                <a:cs typeface="Century Gothic"/>
                <a:sym typeface="Century Gothic"/>
              </a:rPr>
            </a:br>
            <a:r>
              <a:rPr lang="es-ES" sz="1200">
                <a:solidFill>
                  <a:schemeClr val="dk1"/>
                </a:solidFill>
                <a:latin typeface="Times New Roman"/>
                <a:ea typeface="Times New Roman"/>
                <a:cs typeface="Times New Roman"/>
                <a:sym typeface="Times New Roman"/>
              </a:rPr>
              <a:t>Mantenimiento Preventivo:</a:t>
            </a:r>
            <a:endParaRPr sz="1200">
              <a:solidFill>
                <a:schemeClr val="dk1"/>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Clr>
                <a:schemeClr val="dk1"/>
              </a:buClr>
              <a:buSzPts val="1100"/>
              <a:buFont typeface="Arial"/>
              <a:buNone/>
            </a:pPr>
            <a:r>
              <a:rPr lang="es-ES" sz="1200">
                <a:solidFill>
                  <a:schemeClr val="dk1"/>
                </a:solidFill>
                <a:latin typeface="Times New Roman"/>
                <a:ea typeface="Times New Roman"/>
                <a:cs typeface="Times New Roman"/>
                <a:sym typeface="Times New Roman"/>
              </a:rPr>
              <a:t>Implementar un programa de mantenimiento preventivo para asegurar que el sistema de alarma esté siempre en óptimas condiciones. Esto incluye actualizaciones de software, revisión de hardware y pruebas periódicas.</a:t>
            </a:r>
            <a:endParaRPr sz="1200">
              <a:solidFill>
                <a:schemeClr val="dk1"/>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Clr>
                <a:schemeClr val="dk1"/>
              </a:buClr>
              <a:buSzPts val="1100"/>
              <a:buFont typeface="Arial"/>
              <a:buNone/>
            </a:pPr>
            <a:r>
              <a:rPr lang="es-ES"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Clr>
                <a:schemeClr val="dk1"/>
              </a:buClr>
              <a:buSzPts val="1100"/>
              <a:buFont typeface="Arial"/>
              <a:buNone/>
            </a:pPr>
            <a:r>
              <a:rPr lang="es-ES" sz="1200">
                <a:solidFill>
                  <a:schemeClr val="dk1"/>
                </a:solidFill>
                <a:latin typeface="Times New Roman"/>
                <a:ea typeface="Times New Roman"/>
                <a:cs typeface="Times New Roman"/>
                <a:sym typeface="Times New Roman"/>
              </a:rPr>
              <a:t>Compartir Código Abierto (si es posible):</a:t>
            </a:r>
            <a:endParaRPr sz="1200">
              <a:solidFill>
                <a:schemeClr val="dk1"/>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Clr>
                <a:schemeClr val="dk1"/>
              </a:buClr>
              <a:buSzPts val="1100"/>
              <a:buFont typeface="Arial"/>
              <a:buNone/>
            </a:pPr>
            <a:r>
              <a:rPr lang="es-ES" sz="1200">
                <a:solidFill>
                  <a:schemeClr val="dk1"/>
                </a:solidFill>
                <a:latin typeface="Times New Roman"/>
                <a:ea typeface="Times New Roman"/>
                <a:cs typeface="Times New Roman"/>
                <a:sym typeface="Times New Roman"/>
              </a:rPr>
              <a:t>Si es factible, considerar la posibilidad de compartir partes del código fuente o desarrollar componentes como código abierto. Esto contribuirá a la comunidad y permitirá una colaboración más amplia en el desarrollo de soluciones similares.</a:t>
            </a:r>
            <a:endParaRPr sz="1200">
              <a:solidFill>
                <a:schemeClr val="dk1"/>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Clr>
                <a:schemeClr val="dk1"/>
              </a:buClr>
              <a:buSzPts val="1100"/>
              <a:buFont typeface="Arial"/>
              <a:buNone/>
            </a:pPr>
            <a:r>
              <a:rPr lang="es-ES"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a:p>
            <a:pPr marL="0" lvl="0" indent="0" algn="just" rtl="0">
              <a:lnSpc>
                <a:spcPct val="150000"/>
              </a:lnSpc>
              <a:spcBef>
                <a:spcPts val="1200"/>
              </a:spcBef>
              <a:spcAft>
                <a:spcPts val="0"/>
              </a:spcAft>
              <a:buClr>
                <a:schemeClr val="dk1"/>
              </a:buClr>
              <a:buSzPts val="1100"/>
              <a:buFont typeface="Arial"/>
              <a:buNone/>
            </a:pPr>
            <a:r>
              <a:rPr lang="es-ES" sz="1200">
                <a:solidFill>
                  <a:schemeClr val="dk1"/>
                </a:solidFill>
                <a:latin typeface="Times New Roman"/>
                <a:ea typeface="Times New Roman"/>
                <a:cs typeface="Times New Roman"/>
                <a:sym typeface="Times New Roman"/>
              </a:rPr>
              <a:t>Capacitación Continua:</a:t>
            </a:r>
            <a:endParaRPr sz="1200">
              <a:solidFill>
                <a:schemeClr val="dk1"/>
              </a:solidFill>
              <a:latin typeface="Times New Roman"/>
              <a:ea typeface="Times New Roman"/>
              <a:cs typeface="Times New Roman"/>
              <a:sym typeface="Times New Roman"/>
            </a:endParaRPr>
          </a:p>
          <a:p>
            <a:pPr marL="0" marR="0" lvl="0" indent="0" algn="l" rtl="0">
              <a:lnSpc>
                <a:spcPct val="90000"/>
              </a:lnSpc>
              <a:spcBef>
                <a:spcPts val="1200"/>
              </a:spcBef>
              <a:spcAft>
                <a:spcPts val="0"/>
              </a:spcAft>
              <a:buClr>
                <a:schemeClr val="accent4"/>
              </a:buClr>
              <a:buSzPts val="4000"/>
              <a:buFont typeface="Century Gothic"/>
              <a:buNone/>
            </a:pPr>
            <a:r>
              <a:rPr lang="es-ES" sz="1200">
                <a:solidFill>
                  <a:schemeClr val="dk1"/>
                </a:solidFill>
                <a:latin typeface="Times New Roman"/>
                <a:ea typeface="Times New Roman"/>
                <a:cs typeface="Times New Roman"/>
                <a:sym typeface="Times New Roman"/>
              </a:rPr>
              <a:t>Ofrecer sesiones de capacitación periódicas para los usuarios finales, asegurándose de que estén completamente familiarizados con el sistema de alarma y sus funciones. Esto garantizará una respuesta efectiva en situaciones de emergencia</a:t>
            </a:r>
            <a:br>
              <a:rPr lang="es-ES" sz="4000" b="0" i="0" u="none" strike="noStrike" cap="none">
                <a:solidFill>
                  <a:schemeClr val="accent4"/>
                </a:solidFill>
                <a:latin typeface="Century Gothic"/>
                <a:ea typeface="Century Gothic"/>
                <a:cs typeface="Century Gothic"/>
                <a:sym typeface="Century Gothic"/>
              </a:rPr>
            </a:br>
            <a:br>
              <a:rPr lang="es-ES" sz="4000" b="0" i="0" u="none" strike="noStrike" cap="none">
                <a:solidFill>
                  <a:schemeClr val="accent4"/>
                </a:solidFill>
                <a:latin typeface="Century Gothic"/>
                <a:ea typeface="Century Gothic"/>
                <a:cs typeface="Century Gothic"/>
                <a:sym typeface="Century Gothic"/>
              </a:rPr>
            </a:br>
            <a:br>
              <a:rPr lang="es-ES" sz="4000" b="0" i="0" u="none" strike="noStrike" cap="none">
                <a:solidFill>
                  <a:schemeClr val="accent4"/>
                </a:solidFill>
                <a:latin typeface="Century Gothic"/>
                <a:ea typeface="Century Gothic"/>
                <a:cs typeface="Century Gothic"/>
                <a:sym typeface="Century Gothic"/>
              </a:rPr>
            </a:br>
            <a:br>
              <a:rPr lang="es-ES" sz="4000" b="0" i="0" u="none" strike="noStrike" cap="none">
                <a:solidFill>
                  <a:schemeClr val="accent4"/>
                </a:solidFill>
                <a:latin typeface="Century Gothic"/>
                <a:ea typeface="Century Gothic"/>
                <a:cs typeface="Century Gothic"/>
                <a:sym typeface="Century Gothic"/>
              </a:rPr>
            </a:br>
            <a:br>
              <a:rPr lang="es-ES" sz="4000" b="0" i="0" u="none" strike="noStrike" cap="none">
                <a:solidFill>
                  <a:schemeClr val="accent4"/>
                </a:solidFill>
                <a:latin typeface="Century Gothic"/>
                <a:ea typeface="Century Gothic"/>
                <a:cs typeface="Century Gothic"/>
                <a:sym typeface="Century Gothic"/>
              </a:rPr>
            </a:br>
            <a:br>
              <a:rPr lang="es-ES" sz="4000" b="0" i="0" u="none" strike="noStrike" cap="none">
                <a:solidFill>
                  <a:schemeClr val="accent4"/>
                </a:solidFill>
                <a:latin typeface="Century Gothic"/>
                <a:ea typeface="Century Gothic"/>
                <a:cs typeface="Century Gothic"/>
                <a:sym typeface="Century Gothic"/>
              </a:rPr>
            </a:br>
            <a:endParaRPr sz="4400" b="0" i="0" u="none" strike="noStrike" cap="none">
              <a:solidFill>
                <a:schemeClr val="accent4"/>
              </a:solidFill>
              <a:latin typeface="Century Gothic"/>
              <a:ea typeface="Century Gothic"/>
              <a:cs typeface="Century Gothic"/>
              <a:sym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cxnSp>
        <p:nvCxnSpPr>
          <p:cNvPr id="182" name="Google Shape;182;g1eb510cd08f_0_0"/>
          <p:cNvCxnSpPr/>
          <p:nvPr/>
        </p:nvCxnSpPr>
        <p:spPr>
          <a:xfrm>
            <a:off x="7304172" y="327687"/>
            <a:ext cx="3798900" cy="0"/>
          </a:xfrm>
          <a:prstGeom prst="straightConnector1">
            <a:avLst/>
          </a:prstGeom>
          <a:noFill/>
          <a:ln w="9525" cap="flat" cmpd="sng">
            <a:solidFill>
              <a:srgbClr val="085763"/>
            </a:solidFill>
            <a:prstDash val="solid"/>
            <a:miter lim="800000"/>
            <a:headEnd type="oval" w="med" len="med"/>
            <a:tailEnd type="none" w="sm" len="sm"/>
          </a:ln>
        </p:spPr>
      </p:cxnSp>
      <p:sp>
        <p:nvSpPr>
          <p:cNvPr id="183" name="Google Shape;183;g1eb510cd08f_0_0"/>
          <p:cNvSpPr txBox="1"/>
          <p:nvPr/>
        </p:nvSpPr>
        <p:spPr>
          <a:xfrm>
            <a:off x="208052" y="135100"/>
            <a:ext cx="11734800" cy="3879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3F3F3F"/>
              </a:buClr>
              <a:buSzPts val="2800"/>
              <a:buFont typeface="Century Gothic"/>
              <a:buNone/>
            </a:pPr>
            <a:r>
              <a:rPr lang="es-ES" sz="2800" b="1" dirty="0">
                <a:solidFill>
                  <a:srgbClr val="3F3F3F"/>
                </a:solidFill>
                <a:latin typeface="Century Gothic"/>
                <a:ea typeface="Century Gothic"/>
                <a:cs typeface="Century Gothic"/>
                <a:sym typeface="Century Gothic"/>
              </a:rPr>
              <a:t>Conclusiones</a:t>
            </a:r>
            <a:endParaRPr sz="2800" b="0" i="0" u="none" strike="noStrike" cap="none" dirty="0">
              <a:solidFill>
                <a:srgbClr val="3F3F3F"/>
              </a:solidFill>
              <a:latin typeface="Century Gothic"/>
              <a:ea typeface="Century Gothic"/>
              <a:cs typeface="Century Gothic"/>
              <a:sym typeface="Century Gothic"/>
            </a:endParaRPr>
          </a:p>
        </p:txBody>
      </p:sp>
      <p:cxnSp>
        <p:nvCxnSpPr>
          <p:cNvPr id="184" name="Google Shape;184;g1eb510cd08f_0_0"/>
          <p:cNvCxnSpPr/>
          <p:nvPr/>
        </p:nvCxnSpPr>
        <p:spPr>
          <a:xfrm>
            <a:off x="1027416" y="321796"/>
            <a:ext cx="3792300" cy="0"/>
          </a:xfrm>
          <a:prstGeom prst="straightConnector1">
            <a:avLst/>
          </a:prstGeom>
          <a:noFill/>
          <a:ln w="9525" cap="flat" cmpd="sng">
            <a:solidFill>
              <a:srgbClr val="085763"/>
            </a:solidFill>
            <a:prstDash val="solid"/>
            <a:miter lim="800000"/>
            <a:headEnd type="none" w="sm" len="sm"/>
            <a:tailEnd type="oval" w="med" len="med"/>
          </a:ln>
        </p:spPr>
      </p:cxnSp>
      <p:pic>
        <p:nvPicPr>
          <p:cNvPr id="185" name="Google Shape;185;g1eb510cd08f_0_0" descr="Facultad - Arquitectura"/>
          <p:cNvPicPr preferRelativeResize="0"/>
          <p:nvPr/>
        </p:nvPicPr>
        <p:blipFill rotWithShape="1">
          <a:blip r:embed="rId3">
            <a:alphaModFix/>
          </a:blip>
          <a:srcRect/>
          <a:stretch/>
        </p:blipFill>
        <p:spPr>
          <a:xfrm>
            <a:off x="9759328" y="4529848"/>
            <a:ext cx="2204072" cy="2193052"/>
          </a:xfrm>
          <a:prstGeom prst="rect">
            <a:avLst/>
          </a:prstGeom>
          <a:noFill/>
          <a:ln>
            <a:noFill/>
          </a:ln>
        </p:spPr>
      </p:pic>
      <p:sp>
        <p:nvSpPr>
          <p:cNvPr id="186" name="Google Shape;186;g1eb510cd08f_0_0"/>
          <p:cNvSpPr txBox="1"/>
          <p:nvPr/>
        </p:nvSpPr>
        <p:spPr>
          <a:xfrm>
            <a:off x="527786" y="321796"/>
            <a:ext cx="10551000" cy="12192056"/>
          </a:xfrm>
          <a:prstGeom prst="rect">
            <a:avLst/>
          </a:prstGeom>
          <a:noFill/>
          <a:ln>
            <a:noFill/>
          </a:ln>
        </p:spPr>
        <p:txBody>
          <a:bodyPr spcFirstLastPara="1" wrap="square" lIns="0" tIns="0" rIns="0" bIns="0" anchor="t" anchorCtr="0">
            <a:spAutoFit/>
          </a:bodyPr>
          <a:lstStyle/>
          <a:p>
            <a:pPr marL="0" lvl="0" indent="0" algn="just" rtl="0">
              <a:lnSpc>
                <a:spcPct val="150000"/>
              </a:lnSpc>
              <a:spcBef>
                <a:spcPts val="1200"/>
              </a:spcBef>
              <a:spcAft>
                <a:spcPts val="0"/>
              </a:spcAft>
              <a:buClr>
                <a:schemeClr val="dk1"/>
              </a:buClr>
              <a:buSzPts val="1100"/>
              <a:buFont typeface="Arial"/>
              <a:buNone/>
            </a:pPr>
            <a:r>
              <a:rPr lang="es-ES" sz="1200" b="1" dirty="0">
                <a:solidFill>
                  <a:schemeClr val="dk1"/>
                </a:solidFill>
                <a:latin typeface="Times New Roman"/>
                <a:ea typeface="Times New Roman"/>
                <a:cs typeface="Times New Roman"/>
                <a:sym typeface="Times New Roman"/>
              </a:rPr>
              <a:t>Reducción Significativa del Tiempo de Evacuación:</a:t>
            </a:r>
            <a:endParaRPr sz="1200" b="1" dirty="0">
              <a:solidFill>
                <a:schemeClr val="dk1"/>
              </a:solidFill>
              <a:latin typeface="Times New Roman"/>
              <a:ea typeface="Times New Roman"/>
              <a:cs typeface="Times New Roman"/>
              <a:sym typeface="Times New Roman"/>
            </a:endParaRPr>
          </a:p>
          <a:p>
            <a:pPr>
              <a:lnSpc>
                <a:spcPct val="150000"/>
              </a:lnSpc>
              <a:spcAft>
                <a:spcPts val="800"/>
              </a:spcAft>
            </a:pPr>
            <a:r>
              <a:rPr lang="es-GT" sz="1200" dirty="0">
                <a:effectLst/>
                <a:latin typeface="Times New Roman" panose="02020603050405020304" pitchFamily="18" charset="0"/>
                <a:ea typeface="Calibri" panose="020F0502020204030204" pitchFamily="34" charset="0"/>
              </a:rPr>
              <a:t>La implementación del sistema de alarma ha demostrado una reducción efectiva en el tiempo de evacuación de los residentes y colaboradores, disminuyendo este intervalo de 30 minutos a un rango de 15 a 20 minutos. Esto confirma nuestra hipótesis, que anticipaba una mejora en la capacidad de respuesta ante un evento sísmico, permitiendo acciones de evacuación y resguardo más rápidas. Este logro destaca la eficiencia de la variable independiente (el sistema de alarma) en influir positivamente en la variable dependiente, el tiempo de respuesta, impactando directamente la seguridad y el bienestar de los habitantes del centro.</a:t>
            </a:r>
            <a:endParaRPr lang="es-GT" sz="1200" dirty="0">
              <a:effectLst/>
              <a:latin typeface="Calibri" panose="020F0502020204030204" pitchFamily="34" charset="0"/>
              <a:ea typeface="Calibri" panose="020F0502020204030204" pitchFamily="34" charset="0"/>
            </a:endParaRPr>
          </a:p>
          <a:p>
            <a:pPr marL="0" lvl="0" indent="0" algn="just" rtl="0">
              <a:lnSpc>
                <a:spcPct val="150000"/>
              </a:lnSpc>
              <a:spcBef>
                <a:spcPts val="1200"/>
              </a:spcBef>
              <a:spcAft>
                <a:spcPts val="0"/>
              </a:spcAft>
              <a:buClr>
                <a:schemeClr val="dk1"/>
              </a:buClr>
              <a:buSzPts val="1100"/>
              <a:buFont typeface="Arial"/>
              <a:buNone/>
            </a:pPr>
            <a:r>
              <a:rPr lang="es-ES" sz="1200" b="1" dirty="0">
                <a:solidFill>
                  <a:schemeClr val="dk1"/>
                </a:solidFill>
                <a:latin typeface="Times New Roman"/>
                <a:ea typeface="Times New Roman"/>
                <a:cs typeface="Times New Roman"/>
                <a:sym typeface="Times New Roman"/>
              </a:rPr>
              <a:t>Impacto Positivo en Costos de Atención Médica:</a:t>
            </a:r>
            <a:endParaRPr sz="1200" b="1" dirty="0">
              <a:solidFill>
                <a:schemeClr val="dk1"/>
              </a:solidFill>
              <a:latin typeface="Times New Roman"/>
              <a:ea typeface="Times New Roman"/>
              <a:cs typeface="Times New Roman"/>
              <a:sym typeface="Times New Roman"/>
            </a:endParaRPr>
          </a:p>
          <a:p>
            <a:pPr>
              <a:lnSpc>
                <a:spcPct val="150000"/>
              </a:lnSpc>
              <a:spcAft>
                <a:spcPts val="800"/>
              </a:spcAft>
            </a:pPr>
            <a:r>
              <a:rPr lang="es-GT" sz="1200" dirty="0">
                <a:effectLst/>
                <a:latin typeface="Times New Roman" panose="02020603050405020304" pitchFamily="18" charset="0"/>
                <a:ea typeface="Calibri" panose="020F0502020204030204" pitchFamily="34" charset="0"/>
              </a:rPr>
              <a:t>Gracias a una evacuación más oportuna y una respuesta coordinada, se ha logrado una disminución del 90% en los costos de atención médica posteriores a eventos sísmicos. Esta reducción se debe a la disminución de lesiones, lo cual coincide con la hipótesis planteada sobre la reducción de daños personales y materiales. Esto valida aún más la eficiencia del sistema de alarma como variable independiente y su impacto en la variable dependiente de reducción de daños, mejorando la calidad y la eficacia en la atención médica.</a:t>
            </a:r>
            <a:endParaRPr lang="es-GT" sz="1200" dirty="0">
              <a:effectLst/>
              <a:latin typeface="Calibri" panose="020F0502020204030204" pitchFamily="34" charset="0"/>
              <a:ea typeface="Calibri" panose="020F0502020204030204" pitchFamily="34" charset="0"/>
            </a:endParaRPr>
          </a:p>
          <a:p>
            <a:pPr marL="0" lvl="0" indent="0" algn="just" rtl="0">
              <a:lnSpc>
                <a:spcPct val="150000"/>
              </a:lnSpc>
              <a:spcBef>
                <a:spcPts val="1200"/>
              </a:spcBef>
              <a:spcAft>
                <a:spcPts val="0"/>
              </a:spcAft>
              <a:buClr>
                <a:schemeClr val="dk1"/>
              </a:buClr>
              <a:buSzPts val="1100"/>
              <a:buFont typeface="Arial"/>
              <a:buNone/>
            </a:pPr>
            <a:r>
              <a:rPr lang="es-ES" sz="1200" b="1" dirty="0">
                <a:solidFill>
                  <a:schemeClr val="dk1"/>
                </a:solidFill>
                <a:latin typeface="Times New Roman"/>
                <a:ea typeface="Times New Roman"/>
                <a:cs typeface="Times New Roman"/>
                <a:sym typeface="Times New Roman"/>
              </a:rPr>
              <a:t>Alta Confianza en la Funcionalidad del Sistema:</a:t>
            </a:r>
            <a:endParaRPr sz="1200" b="1" dirty="0">
              <a:solidFill>
                <a:schemeClr val="dk1"/>
              </a:solidFill>
              <a:latin typeface="Times New Roman"/>
              <a:ea typeface="Times New Roman"/>
              <a:cs typeface="Times New Roman"/>
              <a:sym typeface="Times New Roman"/>
            </a:endParaRPr>
          </a:p>
          <a:p>
            <a:pPr>
              <a:lnSpc>
                <a:spcPct val="150000"/>
              </a:lnSpc>
              <a:spcAft>
                <a:spcPts val="800"/>
              </a:spcAft>
            </a:pPr>
            <a:r>
              <a:rPr lang="es-GT" sz="1200" dirty="0">
                <a:effectLst/>
                <a:latin typeface="Times New Roman" panose="02020603050405020304" pitchFamily="18" charset="0"/>
                <a:ea typeface="Calibri" panose="020F0502020204030204" pitchFamily="34" charset="0"/>
              </a:rPr>
              <a:t>El nivel de confianza en el sistema de alarma ha alcanzado un 100% entre residentes y colaboradores, lo cual refleja la percepción de seguridad y fiabilidad generada por el sistema. Este resultado confirma la hipótesis de que un sistema de alerta confiable no solo proporciona una respuesta eficiente, sino que también fomenta la tranquilidad y la confianza en el personal y los residentes. La implementación de un sistema que permita una coordinación eficiente ante sismos y terremotos, incluso en situaciones de alta vulnerabilidad, demuestra la importancia de adaptar estos sistemas a las necesidades específicas de los adultos mayores.</a:t>
            </a:r>
            <a:endParaRPr lang="es-GT" sz="1200" dirty="0">
              <a:effectLst/>
              <a:latin typeface="Calibri" panose="020F0502020204030204" pitchFamily="34" charset="0"/>
              <a:ea typeface="Calibri" panose="020F0502020204030204" pitchFamily="34" charset="0"/>
            </a:endParaRPr>
          </a:p>
          <a:p>
            <a:pPr marL="0" lvl="0" indent="0" algn="just" rtl="0">
              <a:lnSpc>
                <a:spcPct val="150000"/>
              </a:lnSpc>
              <a:spcBef>
                <a:spcPts val="1200"/>
              </a:spcBef>
              <a:spcAft>
                <a:spcPts val="0"/>
              </a:spcAft>
              <a:buClr>
                <a:schemeClr val="dk1"/>
              </a:buClr>
              <a:buSzPts val="1100"/>
              <a:buFont typeface="Arial"/>
              <a:buNone/>
            </a:pPr>
            <a:endParaRPr sz="1200" dirty="0">
              <a:solidFill>
                <a:schemeClr val="dk1"/>
              </a:solidFill>
              <a:latin typeface="Times New Roman"/>
              <a:ea typeface="Times New Roman"/>
              <a:cs typeface="Times New Roman"/>
              <a:sym typeface="Times New Roman"/>
            </a:endParaRPr>
          </a:p>
          <a:p>
            <a:pPr marL="0" marR="0" lvl="0" indent="0" algn="just" rtl="0">
              <a:lnSpc>
                <a:spcPct val="200000"/>
              </a:lnSpc>
              <a:spcBef>
                <a:spcPts val="1200"/>
              </a:spcBef>
              <a:spcAft>
                <a:spcPts val="0"/>
              </a:spcAft>
              <a:buClr>
                <a:schemeClr val="accent4"/>
              </a:buClr>
              <a:buSzPts val="4000"/>
              <a:buFont typeface="Century Gothic"/>
              <a:buNone/>
            </a:pPr>
            <a:br>
              <a:rPr lang="es-ES" sz="4000" b="0" i="0" u="none" strike="noStrike" cap="none" dirty="0">
                <a:solidFill>
                  <a:schemeClr val="accent4"/>
                </a:solidFill>
                <a:latin typeface="Century Gothic"/>
                <a:ea typeface="Century Gothic"/>
                <a:cs typeface="Century Gothic"/>
                <a:sym typeface="Century Gothic"/>
              </a:rPr>
            </a:br>
            <a:endParaRPr dirty="0"/>
          </a:p>
          <a:p>
            <a:pPr marL="0" marR="0" lvl="0" indent="0" algn="l" rtl="0">
              <a:lnSpc>
                <a:spcPct val="90000"/>
              </a:lnSpc>
              <a:spcBef>
                <a:spcPts val="800"/>
              </a:spcBef>
              <a:spcAft>
                <a:spcPts val="0"/>
              </a:spcAft>
              <a:buClr>
                <a:schemeClr val="accent4"/>
              </a:buClr>
              <a:buSzPts val="4000"/>
              <a:buFont typeface="Century Gothic"/>
              <a:buNone/>
            </a:pP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endParaRPr sz="4400" b="0" i="0" u="none" strike="noStrike" cap="none" dirty="0">
              <a:solidFill>
                <a:schemeClr val="accent4"/>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DB4AF896-71BA-A797-3E17-FAF77E2F73AE}"/>
            </a:ext>
          </a:extLst>
        </p:cNvPr>
        <p:cNvGrpSpPr/>
        <p:nvPr/>
      </p:nvGrpSpPr>
      <p:grpSpPr>
        <a:xfrm>
          <a:off x="0" y="0"/>
          <a:ext cx="0" cy="0"/>
          <a:chOff x="0" y="0"/>
          <a:chExt cx="0" cy="0"/>
        </a:xfrm>
      </p:grpSpPr>
      <p:cxnSp>
        <p:nvCxnSpPr>
          <p:cNvPr id="182" name="Google Shape;182;g1eb510cd08f_0_0">
            <a:extLst>
              <a:ext uri="{FF2B5EF4-FFF2-40B4-BE49-F238E27FC236}">
                <a16:creationId xmlns:a16="http://schemas.microsoft.com/office/drawing/2014/main" id="{80DACB46-ADA8-AEB7-DE61-25BBD645E395}"/>
              </a:ext>
            </a:extLst>
          </p:cNvPr>
          <p:cNvCxnSpPr/>
          <p:nvPr/>
        </p:nvCxnSpPr>
        <p:spPr>
          <a:xfrm>
            <a:off x="7304172" y="327687"/>
            <a:ext cx="3798900" cy="0"/>
          </a:xfrm>
          <a:prstGeom prst="straightConnector1">
            <a:avLst/>
          </a:prstGeom>
          <a:noFill/>
          <a:ln w="9525" cap="flat" cmpd="sng">
            <a:solidFill>
              <a:srgbClr val="085763"/>
            </a:solidFill>
            <a:prstDash val="solid"/>
            <a:miter lim="800000"/>
            <a:headEnd type="oval" w="med" len="med"/>
            <a:tailEnd type="none" w="sm" len="sm"/>
          </a:ln>
        </p:spPr>
      </p:cxnSp>
      <p:sp>
        <p:nvSpPr>
          <p:cNvPr id="183" name="Google Shape;183;g1eb510cd08f_0_0">
            <a:extLst>
              <a:ext uri="{FF2B5EF4-FFF2-40B4-BE49-F238E27FC236}">
                <a16:creationId xmlns:a16="http://schemas.microsoft.com/office/drawing/2014/main" id="{39CA0625-620A-B8B0-6225-E61EE706B4AA}"/>
              </a:ext>
            </a:extLst>
          </p:cNvPr>
          <p:cNvSpPr txBox="1"/>
          <p:nvPr/>
        </p:nvSpPr>
        <p:spPr>
          <a:xfrm>
            <a:off x="208052" y="135100"/>
            <a:ext cx="11734800" cy="3879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3F3F3F"/>
              </a:buClr>
              <a:buSzPts val="2800"/>
              <a:buFont typeface="Century Gothic"/>
              <a:buNone/>
            </a:pPr>
            <a:r>
              <a:rPr lang="es-ES" sz="2800" b="1" dirty="0">
                <a:solidFill>
                  <a:srgbClr val="3F3F3F"/>
                </a:solidFill>
                <a:latin typeface="Century Gothic"/>
                <a:ea typeface="Century Gothic"/>
                <a:cs typeface="Century Gothic"/>
                <a:sym typeface="Century Gothic"/>
              </a:rPr>
              <a:t>Conclusiones</a:t>
            </a:r>
            <a:endParaRPr sz="2800" b="0" i="0" u="none" strike="noStrike" cap="none" dirty="0">
              <a:solidFill>
                <a:srgbClr val="3F3F3F"/>
              </a:solidFill>
              <a:latin typeface="Century Gothic"/>
              <a:ea typeface="Century Gothic"/>
              <a:cs typeface="Century Gothic"/>
              <a:sym typeface="Century Gothic"/>
            </a:endParaRPr>
          </a:p>
        </p:txBody>
      </p:sp>
      <p:cxnSp>
        <p:nvCxnSpPr>
          <p:cNvPr id="184" name="Google Shape;184;g1eb510cd08f_0_0">
            <a:extLst>
              <a:ext uri="{FF2B5EF4-FFF2-40B4-BE49-F238E27FC236}">
                <a16:creationId xmlns:a16="http://schemas.microsoft.com/office/drawing/2014/main" id="{6062588D-9721-2A26-34FB-73CBB611DD7C}"/>
              </a:ext>
            </a:extLst>
          </p:cNvPr>
          <p:cNvCxnSpPr/>
          <p:nvPr/>
        </p:nvCxnSpPr>
        <p:spPr>
          <a:xfrm>
            <a:off x="1027416" y="321796"/>
            <a:ext cx="3792300" cy="0"/>
          </a:xfrm>
          <a:prstGeom prst="straightConnector1">
            <a:avLst/>
          </a:prstGeom>
          <a:noFill/>
          <a:ln w="9525" cap="flat" cmpd="sng">
            <a:solidFill>
              <a:srgbClr val="085763"/>
            </a:solidFill>
            <a:prstDash val="solid"/>
            <a:miter lim="800000"/>
            <a:headEnd type="none" w="sm" len="sm"/>
            <a:tailEnd type="oval" w="med" len="med"/>
          </a:ln>
        </p:spPr>
      </p:cxnSp>
      <p:pic>
        <p:nvPicPr>
          <p:cNvPr id="185" name="Google Shape;185;g1eb510cd08f_0_0" descr="Facultad - Arquitectura">
            <a:extLst>
              <a:ext uri="{FF2B5EF4-FFF2-40B4-BE49-F238E27FC236}">
                <a16:creationId xmlns:a16="http://schemas.microsoft.com/office/drawing/2014/main" id="{E389263F-1993-9522-17C6-A1ED5C38E476}"/>
              </a:ext>
            </a:extLst>
          </p:cNvPr>
          <p:cNvPicPr preferRelativeResize="0"/>
          <p:nvPr/>
        </p:nvPicPr>
        <p:blipFill rotWithShape="1">
          <a:blip r:embed="rId3">
            <a:alphaModFix/>
          </a:blip>
          <a:srcRect/>
          <a:stretch/>
        </p:blipFill>
        <p:spPr>
          <a:xfrm>
            <a:off x="9759328" y="4529848"/>
            <a:ext cx="2204072" cy="2193052"/>
          </a:xfrm>
          <a:prstGeom prst="rect">
            <a:avLst/>
          </a:prstGeom>
          <a:noFill/>
          <a:ln>
            <a:noFill/>
          </a:ln>
        </p:spPr>
      </p:pic>
      <p:sp>
        <p:nvSpPr>
          <p:cNvPr id="186" name="Google Shape;186;g1eb510cd08f_0_0">
            <a:extLst>
              <a:ext uri="{FF2B5EF4-FFF2-40B4-BE49-F238E27FC236}">
                <a16:creationId xmlns:a16="http://schemas.microsoft.com/office/drawing/2014/main" id="{01E5E3B6-2D42-64FF-A022-38C488A85FDC}"/>
              </a:ext>
            </a:extLst>
          </p:cNvPr>
          <p:cNvSpPr txBox="1"/>
          <p:nvPr/>
        </p:nvSpPr>
        <p:spPr>
          <a:xfrm>
            <a:off x="527786" y="321796"/>
            <a:ext cx="10551000" cy="8806513"/>
          </a:xfrm>
          <a:prstGeom prst="rect">
            <a:avLst/>
          </a:prstGeom>
          <a:noFill/>
          <a:ln>
            <a:noFill/>
          </a:ln>
        </p:spPr>
        <p:txBody>
          <a:bodyPr spcFirstLastPara="1" wrap="square" lIns="0" tIns="0" rIns="0" bIns="0" anchor="t" anchorCtr="0">
            <a:spAutoFit/>
          </a:bodyPr>
          <a:lstStyle/>
          <a:p>
            <a:pPr>
              <a:lnSpc>
                <a:spcPct val="150000"/>
              </a:lnSpc>
              <a:spcBef>
                <a:spcPts val="1200"/>
              </a:spcBef>
              <a:buClr>
                <a:schemeClr val="dk1"/>
              </a:buClr>
              <a:buSzPts val="1100"/>
            </a:pPr>
            <a:endParaRPr lang="es-GT" sz="1200" b="1" dirty="0">
              <a:effectLst/>
              <a:latin typeface="Times New Roman" panose="02020603050405020304" pitchFamily="18" charset="0"/>
              <a:ea typeface="Calibri" panose="020F0502020204030204" pitchFamily="34" charset="0"/>
            </a:endParaRPr>
          </a:p>
          <a:p>
            <a:pPr>
              <a:lnSpc>
                <a:spcPct val="150000"/>
              </a:lnSpc>
              <a:spcBef>
                <a:spcPts val="1200"/>
              </a:spcBef>
              <a:buClr>
                <a:schemeClr val="dk1"/>
              </a:buClr>
              <a:buSzPts val="1100"/>
            </a:pPr>
            <a:r>
              <a:rPr lang="es-GT" sz="1200" b="1" dirty="0">
                <a:effectLst/>
                <a:latin typeface="Times New Roman" panose="02020603050405020304" pitchFamily="18" charset="0"/>
                <a:ea typeface="Calibri" panose="020F0502020204030204" pitchFamily="34" charset="0"/>
              </a:rPr>
              <a:t>Relación y las Necesidades del Entorno:</a:t>
            </a:r>
            <a:br>
              <a:rPr lang="es-GT" sz="1200" dirty="0">
                <a:effectLst/>
                <a:latin typeface="Times New Roman" panose="02020603050405020304" pitchFamily="18" charset="0"/>
                <a:ea typeface="Calibri" panose="020F0502020204030204" pitchFamily="34" charset="0"/>
              </a:rPr>
            </a:br>
            <a:r>
              <a:rPr lang="es-GT" sz="1200" dirty="0">
                <a:effectLst/>
                <a:latin typeface="Times New Roman" panose="02020603050405020304" pitchFamily="18" charset="0"/>
                <a:ea typeface="Calibri" panose="020F0502020204030204" pitchFamily="34" charset="0"/>
              </a:rPr>
              <a:t>Como se mencionó en la introducción, los sistemas de alarma en hogares de adultos mayores son fundamentales para responder a las limitaciones físicas y cognitivas de esta población. Los resultados obtenidos no solo validan la hipótesis, sino que subrayan la relevancia de estos sistemas en mejorar la seguridad de los adultos mayores, demostrando que el sistema implementado no solo cumple con los objetivos de detección temprana, sino que también optimiza la coordinación del personal en situaciones de emergencia, garantizando una protección integral y reforzando la confianza tanto de los residentes como de sus familias.</a:t>
            </a:r>
            <a:endParaRPr lang="es-GT" sz="1200" dirty="0">
              <a:effectLst/>
              <a:latin typeface="Calibri" panose="020F0502020204030204" pitchFamily="34" charset="0"/>
              <a:ea typeface="Calibri" panose="020F0502020204030204" pitchFamily="34" charset="0"/>
            </a:endParaRPr>
          </a:p>
          <a:p>
            <a:pPr marL="0" lvl="0" indent="0" algn="just" rtl="0">
              <a:lnSpc>
                <a:spcPct val="150000"/>
              </a:lnSpc>
              <a:spcBef>
                <a:spcPts val="1200"/>
              </a:spcBef>
              <a:spcAft>
                <a:spcPts val="0"/>
              </a:spcAft>
              <a:buClr>
                <a:schemeClr val="dk1"/>
              </a:buClr>
              <a:buSzPts val="1100"/>
              <a:buFont typeface="Arial"/>
              <a:buNone/>
            </a:pPr>
            <a:endParaRPr sz="1200" dirty="0">
              <a:solidFill>
                <a:schemeClr val="dk1"/>
              </a:solidFill>
              <a:latin typeface="Times New Roman"/>
              <a:ea typeface="Times New Roman"/>
              <a:cs typeface="Times New Roman"/>
              <a:sym typeface="Times New Roman"/>
            </a:endParaRPr>
          </a:p>
          <a:p>
            <a:pPr marL="0" marR="0" lvl="0" indent="0" algn="just" rtl="0">
              <a:lnSpc>
                <a:spcPct val="200000"/>
              </a:lnSpc>
              <a:spcBef>
                <a:spcPts val="1200"/>
              </a:spcBef>
              <a:spcAft>
                <a:spcPts val="0"/>
              </a:spcAft>
              <a:buClr>
                <a:schemeClr val="accent4"/>
              </a:buClr>
              <a:buSzPts val="4000"/>
              <a:buFont typeface="Century Gothic"/>
              <a:buNone/>
            </a:pPr>
            <a:br>
              <a:rPr lang="es-ES" sz="4000" b="0" i="0" u="none" strike="noStrike" cap="none" dirty="0">
                <a:solidFill>
                  <a:schemeClr val="accent4"/>
                </a:solidFill>
                <a:latin typeface="Century Gothic"/>
                <a:ea typeface="Century Gothic"/>
                <a:cs typeface="Century Gothic"/>
                <a:sym typeface="Century Gothic"/>
              </a:rPr>
            </a:br>
            <a:endParaRPr dirty="0"/>
          </a:p>
          <a:p>
            <a:pPr marL="0" marR="0" lvl="0" indent="0" algn="l" rtl="0">
              <a:lnSpc>
                <a:spcPct val="90000"/>
              </a:lnSpc>
              <a:spcBef>
                <a:spcPts val="800"/>
              </a:spcBef>
              <a:spcAft>
                <a:spcPts val="0"/>
              </a:spcAft>
              <a:buClr>
                <a:schemeClr val="accent4"/>
              </a:buClr>
              <a:buSzPts val="4000"/>
              <a:buFont typeface="Century Gothic"/>
              <a:buNone/>
            </a:pP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br>
              <a:rPr lang="es-ES" sz="4000" b="0" i="0" u="none" strike="noStrike" cap="none" dirty="0">
                <a:solidFill>
                  <a:schemeClr val="accent4"/>
                </a:solidFill>
                <a:latin typeface="Century Gothic"/>
                <a:ea typeface="Century Gothic"/>
                <a:cs typeface="Century Gothic"/>
                <a:sym typeface="Century Gothic"/>
              </a:rPr>
            </a:br>
            <a:endParaRPr sz="4400" b="0" i="0" u="none" strike="noStrike" cap="none" dirty="0">
              <a:solidFill>
                <a:schemeClr val="accent4"/>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1435383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85763"/>
        </a:solidFill>
        <a:effectLst/>
      </p:bgPr>
    </p:bg>
    <p:spTree>
      <p:nvGrpSpPr>
        <p:cNvPr id="1" name="Shape 201"/>
        <p:cNvGrpSpPr/>
        <p:nvPr/>
      </p:nvGrpSpPr>
      <p:grpSpPr>
        <a:xfrm>
          <a:off x="0" y="0"/>
          <a:ext cx="0" cy="0"/>
          <a:chOff x="0" y="0"/>
          <a:chExt cx="0" cy="0"/>
        </a:xfrm>
      </p:grpSpPr>
      <p:sp>
        <p:nvSpPr>
          <p:cNvPr id="202" name="Google Shape;202;p6"/>
          <p:cNvSpPr txBox="1">
            <a:spLocks noGrp="1"/>
          </p:cNvSpPr>
          <p:nvPr>
            <p:ph type="ctrTitle"/>
          </p:nvPr>
        </p:nvSpPr>
        <p:spPr>
          <a:xfrm>
            <a:off x="1524000" y="2930403"/>
            <a:ext cx="9144000" cy="997196"/>
          </a:xfrm>
          <a:prstGeom prst="rect">
            <a:avLst/>
          </a:prstGeom>
          <a:noFill/>
          <a:ln>
            <a:noFill/>
          </a:ln>
        </p:spPr>
        <p:txBody>
          <a:bodyPr spcFirstLastPara="1" wrap="square" lIns="0" tIns="0" rIns="0" bIns="0" anchor="ctr" anchorCtr="0">
            <a:spAutoFit/>
          </a:bodyPr>
          <a:lstStyle/>
          <a:p>
            <a:pPr marL="0" lvl="0" indent="0" algn="ctr" rtl="0">
              <a:lnSpc>
                <a:spcPct val="90000"/>
              </a:lnSpc>
              <a:spcBef>
                <a:spcPts val="0"/>
              </a:spcBef>
              <a:spcAft>
                <a:spcPts val="0"/>
              </a:spcAft>
              <a:buClr>
                <a:schemeClr val="lt1"/>
              </a:buClr>
              <a:buSzPts val="7200"/>
              <a:buFont typeface="Century Gothic"/>
              <a:buNone/>
            </a:pPr>
            <a:r>
              <a:rPr lang="es-ES" sz="7200" b="1">
                <a:solidFill>
                  <a:schemeClr val="lt1"/>
                </a:solidFill>
              </a:rPr>
              <a:t>Gracias</a:t>
            </a:r>
            <a:endParaRPr sz="7200">
              <a:solidFill>
                <a:schemeClr val="accent4"/>
              </a:solidFill>
            </a:endParaRPr>
          </a:p>
        </p:txBody>
      </p:sp>
      <p:pic>
        <p:nvPicPr>
          <p:cNvPr id="203" name="Google Shape;203;p6" descr="Facultad - Arquitectura"/>
          <p:cNvPicPr preferRelativeResize="0"/>
          <p:nvPr/>
        </p:nvPicPr>
        <p:blipFill rotWithShape="1">
          <a:blip r:embed="rId3">
            <a:alphaModFix/>
          </a:blip>
          <a:srcRect/>
          <a:stretch/>
        </p:blipFill>
        <p:spPr>
          <a:xfrm>
            <a:off x="3377778" y="991136"/>
            <a:ext cx="5650719" cy="5622466"/>
          </a:xfrm>
          <a:prstGeom prst="rect">
            <a:avLst/>
          </a:prstGeom>
          <a:noFill/>
          <a:ln>
            <a:noFill/>
          </a:ln>
        </p:spPr>
      </p:pic>
    </p:spTree>
  </p:cSld>
  <p:clrMapOvr>
    <a:masterClrMapping/>
  </p:clrMapOvr>
</p:sld>
</file>

<file path=ppt/theme/theme1.xml><?xml version="1.0" encoding="utf-8"?>
<a:theme xmlns:a="http://schemas.openxmlformats.org/drawingml/2006/main" name="Tema de Office">
  <a:themeElements>
    <a:clrScheme name="Custom 73">
      <a:dk1>
        <a:srgbClr val="000000"/>
      </a:dk1>
      <a:lt1>
        <a:srgbClr val="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2000</TotalTime>
  <Words>925</Words>
  <Application>Microsoft Office PowerPoint</Application>
  <PresentationFormat>Panorámica</PresentationFormat>
  <Paragraphs>66</Paragraphs>
  <Slides>14</Slides>
  <Notes>14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14</vt:i4>
      </vt:variant>
    </vt:vector>
  </HeadingPairs>
  <TitlesOfParts>
    <vt:vector size="20" baseType="lpstr">
      <vt:lpstr>Arial</vt:lpstr>
      <vt:lpstr>Century Gothic</vt:lpstr>
      <vt:lpstr>Calibri</vt:lpstr>
      <vt:lpstr>Quattrocento Sans</vt:lpstr>
      <vt:lpstr>Times New Roman</vt:lpstr>
      <vt:lpstr>Tema de Office</vt:lpstr>
      <vt:lpstr>Sistema de alarma para sismos y terremotos en hogar para el adulto mayor “Nuevo Amanecer”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Katheryn Pamela Velasquez Mendez</dc:creator>
  <cp:lastModifiedBy>Katheryn Pamela Velasquez Mendez</cp:lastModifiedBy>
  <cp:revision>3</cp:revision>
  <dcterms:created xsi:type="dcterms:W3CDTF">2023-06-10T02:05:21Z</dcterms:created>
  <dcterms:modified xsi:type="dcterms:W3CDTF">2024-10-27T20:10:27Z</dcterms:modified>
</cp:coreProperties>
</file>